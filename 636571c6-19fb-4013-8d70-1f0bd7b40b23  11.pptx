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65" r:id="rId3"/>
    <p:sldId id="266" r:id="rId4"/>
    <p:sldId id="274" r:id="rId5"/>
    <p:sldId id="267" r:id="rId6"/>
    <p:sldId id="268" r:id="rId7"/>
    <p:sldId id="269" r:id="rId8"/>
    <p:sldId id="270" r:id="rId9"/>
    <p:sldId id="276" r:id="rId10"/>
    <p:sldId id="272" r:id="rId11"/>
    <p:sldId id="273" r:id="rId12"/>
    <p:sldId id="275" r:id="rId13"/>
    <p:sldId id="271" r:id="rId14"/>
  </p:sldIdLst>
  <p:sldSz cx="12192000" cy="6858000"/>
  <p:notesSz cx="12192000" cy="6858000"/>
  <p:embeddedFontLst>
    <p:embeddedFont>
      <p:font typeface="Bookman Old Style" panose="02050604050505020204" pitchFamily="18" charset="0"/>
      <p:regular r:id="rId16"/>
      <p:bold r:id="rId17"/>
      <p:italic r:id="rId18"/>
      <p:boldItalic r:id="rId19"/>
    </p:embeddedFont>
    <p:embeddedFont>
      <p:font typeface="Maiandra GD" panose="020E0502030308020204" pitchFamily="34" charset="0"/>
      <p:regular r:id="rId20"/>
    </p:embeddedFont>
  </p:embeddedFont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42F484E2-D13C-4198-809A-BEC5E46278DC}" styleName="Style 3">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19999"/>
            </a:schemeClr>
          </a:solidFill>
        </a:fill>
      </a:tcStyle>
    </a:band1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50800">
              <a:solidFill>
                <a:schemeClr val="accent1"/>
              </a:solidFill>
            </a:ln>
          </a:top>
        </a:tcBdr>
        <a:fill>
          <a:noFill/>
        </a:fill>
      </a:tcStyle>
    </a:lastRow>
    <a:firstRow>
      <a:tcTxStyle b="on"/>
      <a:tcStyle>
        <a:tcBdr>
          <a:bottom>
            <a:ln w="25400">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pPr/>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pPr/>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3DCFA7E3-AF1E-4675-AD18-D5B679F37F4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4E6D2F1-D737-43DE-B4CE-C454EF7BBD4A}"/>
              </a:ext>
            </a:extLst>
          </p:cNvPr>
          <p:cNvSpPr>
            <a:spLocks noGrp="1"/>
          </p:cNvSpPr>
          <p:nvPr>
            <p:ph type="title"/>
          </p:nvPr>
        </p:nvSpPr>
        <p:spPr>
          <a:xfrm>
            <a:off x="1524000" y="1854199"/>
            <a:ext cx="9144000" cy="1655763"/>
          </a:xfrm>
        </p:spPr>
        <p:txBody>
          <a:bodyPr rtlCol="0" anchor="b"/>
          <a:lstStyle>
            <a:lvl1pPr lvl="0" algn="ctr">
              <a:defRPr lang="en-US" sz="6000" dirty="0"/>
            </a:lvl1pPr>
          </a:lstStyle>
          <a:p>
            <a:r>
              <a:rPr lang="en-US"/>
              <a:t>Click to edit Master title style</a:t>
            </a:r>
          </a:p>
        </p:txBody>
      </p:sp>
      <p:sp>
        <p:nvSpPr>
          <p:cNvPr id="3" name="Subtitle 2">
            <a:extLst>
              <a:ext uri="{32171CF1-2CD1-4848-A55A-5A508E25A32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04F51DF-EF08-4C97-A330-FD7D92F0EA98}"/>
              </a:ext>
            </a:extLst>
          </p:cNvPr>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a:t>Click to edit Master subtitle style</a:t>
            </a:r>
          </a:p>
        </p:txBody>
      </p:sp>
      <p:pic>
        <p:nvPicPr>
          <p:cNvPr id="4" name="Picture 3">
            <a:extLst>
              <a:ext uri="{C1EB77FD-C848-422B-B273-451CDA41F4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1682ECF-C071-4F62-8564-87ABCCA31ACA}"/>
              </a:ext>
            </a:extLst>
          </p:cNvPr>
          <p:cNvPicPr>
            <a:picLocks noChangeAspect="1"/>
          </p:cNvPicPr>
          <p:nvPr userDrawn="1"/>
        </p:nvPicPr>
        <p:blipFill>
          <a:blip r:embed="rId2"/>
          <a:stretch>
            <a:fillRect/>
          </a:stretch>
        </p:blipFill>
        <p:spPr>
          <a:xfrm>
            <a:off x="2567608" y="592088"/>
            <a:ext cx="7609140" cy="1008112"/>
          </a:xfrm>
          <a:prstGeom prst="rect">
            <a:avLst/>
          </a:prstGeom>
          <a:noFill/>
        </p:spPr>
      </p:pic>
      <p:sp>
        <p:nvSpPr>
          <p:cNvPr id="5" name="Footer Placeholder 4">
            <a:extLst>
              <a:ext uri="{C687AB22-C009-4796-A595-4B274F53E9E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9EC38CB-622C-4106-803A-85E3D5477226}"/>
              </a:ext>
            </a:extLst>
          </p:cNvPr>
          <p:cNvSpPr>
            <a:spLocks noGrp="1"/>
          </p:cNvSpPr>
          <p:nvPr>
            <p:ph type="ftr" sz="quarter" idx="11"/>
          </p:nvPr>
        </p:nvSpPr>
        <p:spPr/>
        <p:txBody>
          <a:bodyPr rtlCol="0"/>
          <a:lstStyle>
            <a:lvl1pPr lvl="0"/>
          </a:lstStyle>
          <a:p>
            <a:r>
              <a:rPr lang="en-US"/>
              <a:t>Footer</a:t>
            </a:r>
          </a:p>
        </p:txBody>
      </p:sp>
      <p:sp>
        <p:nvSpPr>
          <p:cNvPr id="6" name="Slide Number Placeholder 5">
            <a:extLst>
              <a:ext uri="{30F4214F-3E4E-4B8B-8AC2-BF59D50B2CD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25D679E-58E0-45F1-BEFC-163C6EEC181D}"/>
              </a:ext>
            </a:extLst>
          </p:cNvPr>
          <p:cNvSpPr>
            <a:spLocks noGrp="1"/>
          </p:cNvSpPr>
          <p:nvPr>
            <p:ph type="sldNum" sz="quarter" idx="12"/>
          </p:nvPr>
        </p:nvSpPr>
        <p:spPr/>
        <p:txBody>
          <a:bodyPr rtlCol="0"/>
          <a:lstStyle>
            <a:lvl1pPr lvl="0"/>
          </a:lstStyle>
          <a:p>
            <a:r>
              <a:rPr lang="en-US"/>
              <a:t>&lt;#&gt;</a:t>
            </a:r>
          </a:p>
        </p:txBody>
      </p:sp>
      <p:sp>
        <p:nvSpPr>
          <p:cNvPr id="7" name="Date Placeholder 3">
            <a:extLst>
              <a:ext uri="{02364871-6258-47BB-A41D-1E9BEBD3EA9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E775BF1-9C64-4531-A7E2-730347FD3CA5}"/>
              </a:ext>
            </a:extLst>
          </p:cNvPr>
          <p:cNvSpPr>
            <a:spLocks noGrp="1"/>
          </p:cNvSpPr>
          <p:nvPr>
            <p:ph type="dt" sz="half" idx="10"/>
          </p:nvPr>
        </p:nvSpPr>
        <p:spPr/>
        <p:txBody>
          <a:bodyPr rtlCol="0"/>
          <a:lstStyle>
            <a:lvl1pPr lvl="0"/>
          </a:lstStyle>
          <a:p>
            <a:r>
              <a:rPr lang="en-US"/>
              <a:t>Date</a:t>
            </a:r>
          </a:p>
        </p:txBody>
      </p:sp>
    </p:spTree>
    <p:extLst>
      <p:ext uri="{7D129387-9967-4C73-939D-69EF041DFD9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8511710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Content Placeholder 2">
            <a:extLst>
              <a:ext uri="{05269A97-DC81-49F9-B896-84CAB659C62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56F5785-025F-4915-96E3-0AFF7163BC15}"/>
              </a:ext>
            </a:extLst>
          </p:cNvPr>
          <p:cNvSpPr>
            <a:spLocks noGrp="1"/>
          </p:cNvSpPr>
          <p:nvPr>
            <p:ph/>
          </p:nvPr>
        </p:nvSpPr>
        <p:spPr>
          <a:xfrm>
            <a:off x="869085" y="1561876"/>
            <a:ext cx="10515600" cy="4531419"/>
          </a:xfrm>
        </p:spPr>
        <p:txBody>
          <a:bodyPr rtlCol="0"/>
          <a:lstStyle>
            <a:lvl1pPr marL="457200" lvl="0" indent="0">
              <a:buNone/>
            </a:lvl1pPr>
            <a:lvl2pPr marL="914400" lvl="1" indent="0">
              <a:buNone/>
            </a:lvl2pPr>
            <a:lvl3pPr marL="1371600" lvl="2" indent="0">
              <a:buNone/>
            </a:lvl3pPr>
            <a:lvl4pPr marL="1828800" lvl="3" indent="0">
              <a:buNone/>
            </a:lvl4pPr>
          </a:lstStyle>
          <a:p>
            <a:pPr lvl="0"/>
            <a:r>
              <a:rPr lang="en-US"/>
              <a:t>Click to edit Master text styles</a:t>
            </a:r>
          </a:p>
        </p:txBody>
      </p:sp>
      <p:sp>
        <p:nvSpPr>
          <p:cNvPr id="3" name="Date Placeholder 2">
            <a:extLst>
              <a:ext uri="{C7EE3D1E-6A2F-4B40-9445-6784FC740A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4C561F3-3431-4CB3-94B3-3A3D9CDA63D8}"/>
              </a:ext>
            </a:extLst>
          </p:cNvPr>
          <p:cNvSpPr>
            <a:spLocks noGrp="1"/>
          </p:cNvSpPr>
          <p:nvPr>
            <p:ph type="dt" sz="half" idx="1"/>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ADCE28B6-DBFE-4620-B95B-46D05A4EFA88}" type="datetime1">
              <a:rPr lang="en-US"/>
              <a:pPr/>
              <a:t>8/16/2026</a:t>
            </a:fld>
            <a:endParaRPr lang="en-US"/>
          </a:p>
        </p:txBody>
      </p:sp>
      <p:sp>
        <p:nvSpPr>
          <p:cNvPr id="4" name="Footer Placeholder 3">
            <a:extLst>
              <a:ext uri="{E2B100E3-D1A2-4814-971B-1F28BC986BE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403740-14DB-4D0C-AC81-1640F2592B4A}"/>
              </a:ext>
            </a:extLst>
          </p:cNvPr>
          <p:cNvSpPr>
            <a:spLocks noGrp="1"/>
          </p:cNvSpPr>
          <p:nvPr>
            <p:ph type="ftr" sz="quarter" idx="2"/>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DL&amp;CO                                                                G.LAVARAJU, Associate Professor, CSE</a:t>
            </a:r>
          </a:p>
        </p:txBody>
      </p:sp>
      <p:pic>
        <p:nvPicPr>
          <p:cNvPr id="5" name="Picture 2">
            <a:extLst>
              <a:ext uri="{DAD87817-DB1B-4DE8-BD41-41BB3E99A74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3518EA9-28E9-4397-BCB4-F5D7ABFF9E3A}"/>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6" name="Slide Number Placeholder 3">
            <a:extLst>
              <a:ext uri="{8B62DEED-5952-4478-9464-706CCDCB22D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265A311-D434-4806-B3C0-ED40E2B04ADB}"/>
              </a:ext>
            </a:extLst>
          </p:cNvPr>
          <p:cNvSpPr>
            <a:spLocks noGrp="1"/>
          </p:cNvSpPr>
          <p:nvPr>
            <p:ph type="sldNum" sz="quarter" idx="3"/>
          </p:nvPr>
        </p:nvSpPr>
        <p:spPr>
          <a:xfrm>
            <a:off x="10272464" y="6356350"/>
            <a:ext cx="1081336" cy="365125"/>
          </a:xfrm>
        </p:spPr>
        <p:txBody>
          <a:bodyPr rtlCol="0"/>
          <a:lstStyle/>
          <a:p>
            <a:fld id="{9359D16F-76A5-41BA-ADDD-CBF352B33DDD}" type="slidenum">
              <a:rPr/>
              <a:pPr/>
              <a:t>‹#›</a:t>
            </a:fld>
            <a:endParaRPr lang="en-US"/>
          </a:p>
        </p:txBody>
      </p:sp>
    </p:spTree>
    <p:extLst>
      <p:ext uri="{E791D5F0-FCE4-45B8-828D-F7D7E855498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8511710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2">
            <a:extLst>
              <a:ext uri="{2A124749-B5E7-4428-BF59-41C47B6A612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8CFA2DB-E1A9-463A-BC5A-35A8CCF5293E}"/>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3" name="Date Placeholder 2">
            <a:extLst>
              <a:ext uri="{E7A761B9-81CB-49B2-8BE6-983B6B07B3D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F471AC3-982D-4B96-9E59-D3B6F74D9039}"/>
              </a:ext>
            </a:extLst>
          </p:cNvPr>
          <p:cNvSpPr>
            <a:spLocks noGrp="1"/>
          </p:cNvSpPr>
          <p:nvPr>
            <p:ph type="dt" sz="half" idx="10"/>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B13D2877-58CC-4844-975B-B8D6496C43E9}" type="datetime1">
              <a:rPr lang="en-US"/>
              <a:pPr/>
              <a:t>8/16/2026</a:t>
            </a:fld>
            <a:endParaRPr lang="en-US"/>
          </a:p>
        </p:txBody>
      </p:sp>
      <p:sp>
        <p:nvSpPr>
          <p:cNvPr id="4" name="Footer Placeholder 3">
            <a:extLst>
              <a:ext uri="{7A687B93-B742-4FC6-AC3F-36C63D4DF72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5844C2E-6153-4C88-A824-95DE18C30385}"/>
              </a:ext>
            </a:extLst>
          </p:cNvPr>
          <p:cNvSpPr>
            <a:spLocks noGrp="1"/>
          </p:cNvSpPr>
          <p:nvPr>
            <p:ph type="ftr" sz="quarter" idx="11"/>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DL&amp;CO                                                                G.LAVARAJU, Associate Professor, CSE</a:t>
            </a:r>
          </a:p>
        </p:txBody>
      </p:sp>
      <p:sp>
        <p:nvSpPr>
          <p:cNvPr id="5" name="Slide Number Placeholder 3">
            <a:extLst>
              <a:ext uri="{A59E037D-D639-4F65-9477-94A0EBCDC4E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C0A76B5-951D-4394-8F2D-A4E34AC06D08}"/>
              </a:ext>
            </a:extLst>
          </p:cNvPr>
          <p:cNvSpPr>
            <a:spLocks noGrp="1"/>
          </p:cNvSpPr>
          <p:nvPr>
            <p:ph type="sldNum" sz="quarter" idx="12"/>
          </p:nvPr>
        </p:nvSpPr>
        <p:spPr>
          <a:xfrm>
            <a:off x="10272464" y="6356350"/>
            <a:ext cx="1081336" cy="365125"/>
          </a:xfrm>
        </p:spPr>
        <p:txBody>
          <a:bodyPr rtlCol="0"/>
          <a:lstStyle/>
          <a:p>
            <a:fld id="{D9C5B093-D3DD-4808-813A-F58BF8E67773}" type="slidenum">
              <a:rPr/>
              <a:pPr/>
              <a:t>‹#›</a:t>
            </a:fld>
            <a:endParaRPr lang="en-US"/>
          </a:p>
        </p:txBody>
      </p:sp>
    </p:spTree>
    <p:extLst>
      <p:ext uri="{917857EF-1D39-4225-A829-037EB1D2793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85117106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Title Placeholder 1">
            <a:extLst>
              <a:ext uri="{48EA39CE-E158-4B2A-99CD-545B14A22D3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313CDBB-BA82-4DED-973B-07A500BC5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76CEBE57-5AC2-4233-9D99-CAE469A4C85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438A3C5-0C27-48D9-9FD4-D71686301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5757E326-5F3E-43A1-830E-27FE2CE96B3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FB99B2-34CB-4F0C-AABD-9CC4327C4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A0623D07-B41D-4865-9117-A59235B241FC}" type="datetime1">
              <a:rPr lang="en-US"/>
              <a:pPr/>
              <a:t>8/16/2026</a:t>
            </a:fld>
            <a:endParaRPr lang="en-US"/>
          </a:p>
        </p:txBody>
      </p:sp>
      <p:sp>
        <p:nvSpPr>
          <p:cNvPr id="5" name="Footer Placeholder 4">
            <a:extLst>
              <a:ext uri="{71906065-35B4-4935-A9D1-FD668DE1E59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7A5B885-A2DA-46BA-BC42-719D5CA3E2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r>
              <a:rPr lang="en-US"/>
              <a:t>DL&amp;CO                                                                G.LAVARAJU, Associate Professor, CSE</a:t>
            </a:r>
          </a:p>
        </p:txBody>
      </p:sp>
      <p:sp>
        <p:nvSpPr>
          <p:cNvPr id="6" name="Slide Number Placeholder 5">
            <a:extLst>
              <a:ext uri="{35F2950A-B1CB-4727-AB58-367C2C82CEA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979ABAE-2F0E-462F-935B-AC49E1A2F7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C0FA9481-3A84-418C-9FCC-1F8C2D158F80}" type="slidenum">
              <a: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Char char="•"/>
        <a:defRPr lang="en-US" sz="2800" dirty="0">
          <a:solidFill>
            <a:schemeClr val="tx1"/>
          </a:solidFill>
          <a:latin typeface="+mn-lt"/>
        </a:defRPr>
      </a:lvl1pPr>
      <a:lvl2pPr marL="685800" lvl="1" indent="-228600" algn="l" rtl="0">
        <a:lnSpc>
          <a:spcPct val="90000"/>
        </a:lnSpc>
        <a:spcBef>
          <a:spcPts val="500"/>
        </a:spcBef>
        <a:buChar char="•"/>
        <a:defRPr lang="en-US" sz="2400" dirty="0">
          <a:solidFill>
            <a:schemeClr val="tx1"/>
          </a:solidFill>
          <a:latin typeface="+mn-lt"/>
        </a:defRPr>
      </a:lvl2pPr>
      <a:lvl3pPr marL="1143000" lvl="2" indent="-228600" algn="l" rtl="0">
        <a:lnSpc>
          <a:spcPct val="90000"/>
        </a:lnSpc>
        <a:spcBef>
          <a:spcPts val="500"/>
        </a:spcBef>
        <a:buChar char="•"/>
        <a:defRPr lang="en-US" sz="2000" dirty="0">
          <a:solidFill>
            <a:schemeClr val="tx1"/>
          </a:solidFill>
          <a:latin typeface="+mn-lt"/>
        </a:defRPr>
      </a:lvl3pPr>
      <a:lvl4pPr marL="1600200" lvl="3" indent="-228600" algn="l" rtl="0">
        <a:lnSpc>
          <a:spcPct val="90000"/>
        </a:lnSpc>
        <a:spcBef>
          <a:spcPts val="500"/>
        </a:spcBef>
        <a:buChar char="•"/>
        <a:defRPr lang="en-US" sz="1800" dirty="0">
          <a:solidFill>
            <a:schemeClr val="tx1"/>
          </a:solidFill>
          <a:latin typeface="+mn-lt"/>
        </a:defRPr>
      </a:lvl4pPr>
      <a:lvl5pPr marL="2057400" lvl="4" indent="-228600" algn="l" rtl="0">
        <a:lnSpc>
          <a:spcPct val="90000"/>
        </a:lnSpc>
        <a:spcBef>
          <a:spcPts val="500"/>
        </a:spcBef>
        <a:buChar char="•"/>
        <a:defRPr lang="en-US" sz="1800" dirty="0">
          <a:solidFill>
            <a:schemeClr val="tx1"/>
          </a:solidFill>
          <a:latin typeface="+mn-lt"/>
        </a:defRPr>
      </a:lvl5pPr>
      <a:lvl6pPr marL="2514600" lvl="5" indent="-228600" algn="l" rtl="0">
        <a:lnSpc>
          <a:spcPct val="90000"/>
        </a:lnSpc>
        <a:spcBef>
          <a:spcPts val="500"/>
        </a:spcBef>
        <a:buChar char="•"/>
        <a:defRPr lang="en-US" sz="1800" dirty="0">
          <a:solidFill>
            <a:schemeClr val="tx1"/>
          </a:solidFill>
          <a:latin typeface="+mn-lt"/>
        </a:defRPr>
      </a:lvl6pPr>
      <a:lvl7pPr marL="2971800" lvl="6" indent="-228600" algn="l" rtl="0">
        <a:lnSpc>
          <a:spcPct val="90000"/>
        </a:lnSpc>
        <a:spcBef>
          <a:spcPts val="500"/>
        </a:spcBef>
        <a:buChar char="•"/>
        <a:defRPr lang="en-US" sz="1800" dirty="0">
          <a:solidFill>
            <a:schemeClr val="tx1"/>
          </a:solidFill>
          <a:latin typeface="+mn-lt"/>
        </a:defRPr>
      </a:lvl7pPr>
      <a:lvl8pPr marL="3429000" lvl="7" indent="-228600" algn="l" rtl="0">
        <a:lnSpc>
          <a:spcPct val="90000"/>
        </a:lnSpc>
        <a:spcBef>
          <a:spcPts val="500"/>
        </a:spcBef>
        <a:buChar char="•"/>
        <a:defRPr lang="en-US" sz="1800" dirty="0">
          <a:solidFill>
            <a:schemeClr val="tx1"/>
          </a:solidFill>
          <a:latin typeface="+mn-lt"/>
        </a:defRPr>
      </a:lvl8pPr>
      <a:lvl9pPr marL="3886200" lvl="8" indent="-228600" algn="l" rtl="0">
        <a:lnSpc>
          <a:spcPct val="90000"/>
        </a:lnSpc>
        <a:spcBef>
          <a:spcPts val="500"/>
        </a:spcBef>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chemeClr val="bg1"/>
        </a:solidFill>
        <a:effectLst/>
      </p:bgPr>
    </p:bg>
    <p:spTree>
      <p:nvGrpSpPr>
        <p:cNvPr id="1" name=""/>
        <p:cNvGrpSpPr/>
        <p:nvPr/>
      </p:nvGrpSpPr>
      <p:grpSpPr>
        <a:xfrm>
          <a:off x="0" y="0"/>
          <a:ext cx="0" cy="0"/>
          <a:chOff x="0" y="0"/>
          <a:chExt cx="0" cy="0"/>
        </a:xfrm>
      </p:grpSpPr>
      <p:sp>
        <p:nvSpPr>
          <p:cNvPr id="3" name="Title 1">
            <a:extLst>
              <a:ext uri="{64856C8F-7DB4-4507-9010-97CF4AE55C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2140DA9-F832-465D-86DE-FEB6803F3756}"/>
              </a:ext>
            </a:extLst>
          </p:cNvPr>
          <p:cNvSpPr txBox="1"/>
          <p:nvPr/>
        </p:nvSpPr>
        <p:spPr>
          <a:xfrm>
            <a:off x="1342988" y="1143000"/>
            <a:ext cx="10696612" cy="1143000"/>
          </a:xfrm>
          <a:prstGeom prst="rect">
            <a:avLst/>
          </a:prstGeom>
        </p:spPr>
        <p:txBody>
          <a:bodyPr vert="horz" lIns="91440" tIns="45720" rIns="91440" bIns="45720" rtlCol="0" anchor="b">
            <a:noAutofit/>
          </a:bodyPr>
          <a:lstStyle/>
          <a:p>
            <a:pPr algn="ctr">
              <a:lnSpc>
                <a:spcPct val="90000"/>
              </a:lnSpc>
              <a:spcBef>
                <a:spcPct val="0"/>
              </a:spcBef>
            </a:pPr>
            <a:r>
              <a:rPr lang="en-GB" sz="3200" dirty="0">
                <a:solidFill>
                  <a:srgbClr val="0070C0"/>
                </a:solidFill>
                <a:latin typeface="Bookman Old Style" pitchFamily="18" charset="0"/>
                <a:ea typeface="ADLaM Display" panose="02010000000000000000" pitchFamily="2" charset="0"/>
                <a:cs typeface="ADLaM Display" panose="02010000000000000000" pitchFamily="2" charset="0"/>
              </a:rPr>
              <a:t>Project Review 1 </a:t>
            </a:r>
            <a:endParaRPr lang="en-US" dirty="0"/>
          </a:p>
          <a:p>
            <a:pPr algn="ctr">
              <a:lnSpc>
                <a:spcPct val="90000"/>
              </a:lnSpc>
              <a:spcBef>
                <a:spcPct val="0"/>
              </a:spcBef>
            </a:pPr>
            <a:endParaRPr lang="en-GB" dirty="0"/>
          </a:p>
        </p:txBody>
      </p:sp>
      <p:sp>
        <p:nvSpPr>
          <p:cNvPr id="5" name="Title 1">
            <a:extLst>
              <a:ext uri="{20663F85-F48B-43E1-96BA-3B1BE53937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1157749" y="2286000"/>
            <a:ext cx="10696612" cy="936104"/>
          </a:xfrm>
          <a:prstGeom prst="rect">
            <a:avLst/>
          </a:prstGeom>
        </p:spPr>
        <p:txBody>
          <a:bodyPr vert="horz" lIns="91440" tIns="45720" rIns="91440" bIns="45720" rtlCol="0" anchor="b">
            <a:noAutofit/>
          </a:bodyPr>
          <a:lstStyle/>
          <a:p>
            <a:pPr algn="ctr">
              <a:lnSpc>
                <a:spcPct val="90000"/>
              </a:lnSpc>
              <a:spcBef>
                <a:spcPct val="0"/>
              </a:spcBef>
            </a:pPr>
            <a:endParaRPr lang="en-US" sz="4400" dirty="0">
              <a:solidFill>
                <a:srgbClr val="C00000"/>
              </a:solidFill>
              <a:latin typeface="Bookman Old Style" pitchFamily="18" charset="0"/>
              <a:ea typeface="ADLaM Display"/>
              <a:cs typeface="ADLaM Display"/>
            </a:endParaRPr>
          </a:p>
        </p:txBody>
      </p:sp>
      <p:sp>
        <p:nvSpPr>
          <p:cNvPr id="4" name="Title 1">
            <a:extLst>
              <a:ext uri="{FF2B5EF4-FFF2-40B4-BE49-F238E27FC236}">
                <a16:creationId xmlns:a16="http://schemas.microsoft.com/office/drawing/2014/main" id="{C697F756-CC06-B299-9F26-7E8B254D5996}"/>
              </a:ext>
              <a:ext uri="{20663F85-F48B-43E1-96BA-3B1BE53937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990600" y="4267200"/>
            <a:ext cx="10696612" cy="936104"/>
          </a:xfrm>
          <a:prstGeom prst="rect">
            <a:avLst/>
          </a:prstGeom>
        </p:spPr>
        <p:txBody>
          <a:bodyPr vert="horz" lIns="91440" tIns="45720" rIns="91440" bIns="45720" rtlCol="0" anchor="b">
            <a:noAutofit/>
          </a:bodyPr>
          <a:lstStyle/>
          <a:p>
            <a:pPr lvl="0" algn="ctr">
              <a:lnSpc>
                <a:spcPct val="90000"/>
              </a:lnSpc>
              <a:spcBef>
                <a:spcPct val="0"/>
              </a:spcBef>
            </a:pPr>
            <a:endParaRPr lang="en-US" sz="2400" dirty="0">
              <a:solidFill>
                <a:srgbClr val="C00000"/>
              </a:solidFill>
              <a:latin typeface="Bookman Old Style" pitchFamily="18" charset="0"/>
            </a:endParaRPr>
          </a:p>
        </p:txBody>
      </p:sp>
      <p:sp>
        <p:nvSpPr>
          <p:cNvPr id="6" name="Title 1">
            <a:extLst>
              <a:ext uri="{FF2B5EF4-FFF2-40B4-BE49-F238E27FC236}">
                <a16:creationId xmlns:a16="http://schemas.microsoft.com/office/drawing/2014/main" id="{D5413A39-CC5B-41A8-0597-7A72CEFDEA3A}"/>
              </a:ext>
              <a:ext uri="{20663F85-F48B-43E1-96BA-3B1BE53937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152400" y="5751832"/>
            <a:ext cx="4997116" cy="1012304"/>
          </a:xfrm>
          <a:prstGeom prst="rect">
            <a:avLst/>
          </a:prstGeom>
        </p:spPr>
        <p:txBody>
          <a:bodyPr vert="horz" lIns="91440" tIns="45720" rIns="91440" bIns="45720" rtlCol="0" anchor="b">
            <a:noAutofit/>
          </a:bodyPr>
          <a:lstStyle/>
          <a:p>
            <a:endParaRPr lang="en-IN" sz="1600" dirty="0">
              <a:solidFill>
                <a:srgbClr val="0070C0"/>
              </a:solidFill>
            </a:endParaRPr>
          </a:p>
        </p:txBody>
      </p:sp>
      <p:sp>
        <p:nvSpPr>
          <p:cNvPr id="2" name="TextBox 1">
            <a:extLst>
              <a:ext uri="{FF2B5EF4-FFF2-40B4-BE49-F238E27FC236}">
                <a16:creationId xmlns:a16="http://schemas.microsoft.com/office/drawing/2014/main" id="{8B072163-3A6D-3542-D722-E95FE499CC39}"/>
              </a:ext>
            </a:extLst>
          </p:cNvPr>
          <p:cNvSpPr txBox="1"/>
          <p:nvPr/>
        </p:nvSpPr>
        <p:spPr>
          <a:xfrm>
            <a:off x="1662537" y="2386089"/>
            <a:ext cx="10529463" cy="1015663"/>
          </a:xfrm>
          <a:prstGeom prst="rect">
            <a:avLst/>
          </a:prstGeom>
          <a:noFill/>
        </p:spPr>
        <p:txBody>
          <a:bodyPr wrap="square" rtlCol="0">
            <a:spAutoFit/>
          </a:bodyPr>
          <a:lstStyle/>
          <a:p>
            <a:r>
              <a:rPr lang="en-IN" sz="6000" dirty="0">
                <a:solidFill>
                  <a:srgbClr val="FF0000"/>
                </a:solidFill>
              </a:rPr>
              <a:t>Hospital Management System</a:t>
            </a:r>
          </a:p>
        </p:txBody>
      </p:sp>
      <p:sp>
        <p:nvSpPr>
          <p:cNvPr id="7" name="TextBox 6">
            <a:extLst>
              <a:ext uri="{FF2B5EF4-FFF2-40B4-BE49-F238E27FC236}">
                <a16:creationId xmlns:a16="http://schemas.microsoft.com/office/drawing/2014/main" id="{153D85EF-F28F-3CF8-9B37-D8A0DDF1BE29}"/>
              </a:ext>
            </a:extLst>
          </p:cNvPr>
          <p:cNvSpPr txBox="1"/>
          <p:nvPr/>
        </p:nvSpPr>
        <p:spPr>
          <a:xfrm>
            <a:off x="1427335" y="4061603"/>
            <a:ext cx="8342720" cy="341632"/>
          </a:xfrm>
          <a:prstGeom prst="rect">
            <a:avLst/>
          </a:prstGeom>
          <a:noFill/>
        </p:spPr>
        <p:txBody>
          <a:bodyPr wrap="square" rtlCol="0">
            <a:spAutoFit/>
          </a:bodyPr>
          <a:lstStyle/>
          <a:p>
            <a:pPr lvl="0" algn="ctr">
              <a:lnSpc>
                <a:spcPct val="90000"/>
              </a:lnSpc>
              <a:spcBef>
                <a:spcPct val="0"/>
              </a:spcBef>
            </a:pPr>
            <a:r>
              <a:rPr lang="en-GB" dirty="0">
                <a:solidFill>
                  <a:srgbClr val="0070C0"/>
                </a:solidFill>
                <a:latin typeface="Bookman Old Style" pitchFamily="18" charset="0"/>
                <a:ea typeface="ADLaM Display" panose="02010000000000000000" pitchFamily="2" charset="0"/>
                <a:cs typeface="ADLaM Display" panose="02010000000000000000" pitchFamily="2" charset="0"/>
              </a:rPr>
              <a:t>Department of Artificial Intelligence &amp;Machine Learning</a:t>
            </a:r>
          </a:p>
        </p:txBody>
      </p:sp>
      <p:sp>
        <p:nvSpPr>
          <p:cNvPr id="10" name="TextBox 9">
            <a:extLst>
              <a:ext uri="{FF2B5EF4-FFF2-40B4-BE49-F238E27FC236}">
                <a16:creationId xmlns:a16="http://schemas.microsoft.com/office/drawing/2014/main" id="{6AA91C32-2A45-42FA-E1C3-4E18F1247A94}"/>
              </a:ext>
            </a:extLst>
          </p:cNvPr>
          <p:cNvSpPr txBox="1"/>
          <p:nvPr/>
        </p:nvSpPr>
        <p:spPr>
          <a:xfrm>
            <a:off x="485069" y="4951763"/>
            <a:ext cx="5113626" cy="840230"/>
          </a:xfrm>
          <a:prstGeom prst="rect">
            <a:avLst/>
          </a:prstGeom>
          <a:noFill/>
        </p:spPr>
        <p:txBody>
          <a:bodyPr wrap="square" rtlCol="0">
            <a:spAutoFit/>
          </a:bodyPr>
          <a:lstStyle/>
          <a:p>
            <a:pPr lvl="0">
              <a:lnSpc>
                <a:spcPct val="90000"/>
              </a:lnSpc>
              <a:spcBef>
                <a:spcPct val="0"/>
              </a:spcBef>
            </a:pPr>
            <a:r>
              <a:rPr lang="en-US" dirty="0">
                <a:solidFill>
                  <a:srgbClr val="FF0000"/>
                </a:solidFill>
                <a:latin typeface="Bookman Old Style" pitchFamily="18" charset="0"/>
              </a:rPr>
              <a:t>Guided by :</a:t>
            </a:r>
            <a:r>
              <a:rPr lang="en-US" dirty="0">
                <a:solidFill>
                  <a:srgbClr val="7030A0"/>
                </a:solidFill>
                <a:latin typeface="Bookman Old Style" pitchFamily="18" charset="0"/>
              </a:rPr>
              <a:t> Mrs.GL </a:t>
            </a:r>
            <a:r>
              <a:rPr lang="en-US" dirty="0" err="1">
                <a:solidFill>
                  <a:srgbClr val="7030A0"/>
                </a:solidFill>
                <a:latin typeface="Times New Roman" panose="02020603050405020304" pitchFamily="18" charset="0"/>
                <a:cs typeface="Times New Roman" panose="02020603050405020304" pitchFamily="18" charset="0"/>
              </a:rPr>
              <a:t>Narasamba</a:t>
            </a:r>
            <a:endParaRPr lang="en-US" dirty="0">
              <a:solidFill>
                <a:srgbClr val="7030A0"/>
              </a:solidFill>
              <a:latin typeface="Times New Roman" panose="02020603050405020304" pitchFamily="18" charset="0"/>
              <a:cs typeface="Times New Roman" panose="02020603050405020304" pitchFamily="18" charset="0"/>
            </a:endParaRPr>
          </a:p>
          <a:p>
            <a:pPr marL="285750" lvl="0" indent="-285750">
              <a:lnSpc>
                <a:spcPct val="90000"/>
              </a:lnSpc>
              <a:spcBef>
                <a:spcPct val="0"/>
              </a:spcBef>
              <a:buFont typeface="Arial" panose="020B0604020202020204" pitchFamily="34" charset="0"/>
              <a:buChar char="•"/>
            </a:pPr>
            <a:endParaRPr lang="en-US" dirty="0">
              <a:solidFill>
                <a:srgbClr val="C00000"/>
              </a:solidFill>
              <a:latin typeface="Bookman Old Style" pitchFamily="18" charset="0"/>
            </a:endParaRPr>
          </a:p>
          <a:p>
            <a:pPr lvl="0">
              <a:lnSpc>
                <a:spcPct val="90000"/>
              </a:lnSpc>
              <a:spcBef>
                <a:spcPct val="0"/>
              </a:spcBef>
            </a:pPr>
            <a:r>
              <a:rPr lang="en-US" dirty="0">
                <a:solidFill>
                  <a:srgbClr val="FF0000"/>
                </a:solidFill>
                <a:latin typeface="Bookman Old Style" pitchFamily="18" charset="0"/>
              </a:rPr>
              <a:t>CO-Guided by:</a:t>
            </a:r>
            <a:r>
              <a:rPr lang="en-US" dirty="0">
                <a:solidFill>
                  <a:srgbClr val="7030A0"/>
                </a:solidFill>
                <a:latin typeface="Bookman Old Style" pitchFamily="18" charset="0"/>
              </a:rPr>
              <a:t> </a:t>
            </a:r>
            <a:r>
              <a:rPr lang="en-US" dirty="0" err="1">
                <a:solidFill>
                  <a:srgbClr val="7030A0"/>
                </a:solidFill>
                <a:latin typeface="Bookman Old Style" pitchFamily="18" charset="0"/>
              </a:rPr>
              <a:t>Dr.P.V.V.S.D</a:t>
            </a:r>
            <a:r>
              <a:rPr lang="en-US" dirty="0">
                <a:solidFill>
                  <a:srgbClr val="7030A0"/>
                </a:solidFill>
                <a:latin typeface="Bookman Old Style" pitchFamily="18" charset="0"/>
              </a:rPr>
              <a:t>. </a:t>
            </a:r>
            <a:r>
              <a:rPr lang="en-US" dirty="0" err="1">
                <a:solidFill>
                  <a:srgbClr val="7030A0"/>
                </a:solidFill>
                <a:latin typeface="Bookman Old Style" pitchFamily="18" charset="0"/>
              </a:rPr>
              <a:t>Nagendrudu</a:t>
            </a:r>
            <a:r>
              <a:rPr lang="en-US" dirty="0">
                <a:solidFill>
                  <a:srgbClr val="7030A0"/>
                </a:solidFill>
                <a:latin typeface="Bookman Old Style" pitchFamily="18" charset="0"/>
              </a:rPr>
              <a:t> </a:t>
            </a:r>
          </a:p>
        </p:txBody>
      </p:sp>
      <p:sp>
        <p:nvSpPr>
          <p:cNvPr id="11" name="TextBox 10">
            <a:extLst>
              <a:ext uri="{FF2B5EF4-FFF2-40B4-BE49-F238E27FC236}">
                <a16:creationId xmlns:a16="http://schemas.microsoft.com/office/drawing/2014/main" id="{1396459A-9D4F-CA32-5536-F4B1D88C60FF}"/>
              </a:ext>
            </a:extLst>
          </p:cNvPr>
          <p:cNvSpPr txBox="1"/>
          <p:nvPr/>
        </p:nvSpPr>
        <p:spPr>
          <a:xfrm>
            <a:off x="10596970" y="5320537"/>
            <a:ext cx="184731" cy="369332"/>
          </a:xfrm>
          <a:prstGeom prst="rect">
            <a:avLst/>
          </a:prstGeom>
          <a:noFill/>
        </p:spPr>
        <p:txBody>
          <a:bodyPr wrap="none" rtlCol="0">
            <a:spAutoFit/>
          </a:bodyPr>
          <a:lstStyle/>
          <a:p>
            <a:endParaRPr lang="en-IN" dirty="0"/>
          </a:p>
        </p:txBody>
      </p:sp>
      <p:sp>
        <p:nvSpPr>
          <p:cNvPr id="14" name="Title 1">
            <a:extLst>
              <a:ext uri="{FF2B5EF4-FFF2-40B4-BE49-F238E27FC236}">
                <a16:creationId xmlns:a16="http://schemas.microsoft.com/office/drawing/2014/main" id="{EE1C9DFB-B5F1-2CA9-1F91-924F84E04EB4}"/>
              </a:ext>
              <a:ext uri="{20663F85-F48B-43E1-96BA-3B1BE53937F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082DE41-6288-42A5-A437-B3C890B5FD67}"/>
              </a:ext>
            </a:extLst>
          </p:cNvPr>
          <p:cNvSpPr txBox="1"/>
          <p:nvPr/>
        </p:nvSpPr>
        <p:spPr>
          <a:xfrm>
            <a:off x="6593307" y="4804614"/>
            <a:ext cx="5799221" cy="1543909"/>
          </a:xfrm>
          <a:prstGeom prst="rect">
            <a:avLst/>
          </a:prstGeom>
        </p:spPr>
        <p:txBody>
          <a:bodyPr vert="horz" lIns="91440" tIns="45720" rIns="91440" bIns="45720" rtlCol="0" anchor="b">
            <a:noAutofit/>
          </a:bodyPr>
          <a:lstStyle/>
          <a:p>
            <a:pPr marL="285750" lvl="0" indent="-285750">
              <a:lnSpc>
                <a:spcPct val="90000"/>
              </a:lnSpc>
              <a:spcBef>
                <a:spcPct val="0"/>
              </a:spcBef>
              <a:buFont typeface="Arial" panose="020B0604020202020204" pitchFamily="34" charset="0"/>
              <a:buChar char="•"/>
            </a:pPr>
            <a:r>
              <a:rPr lang="en-US" sz="1600" dirty="0">
                <a:solidFill>
                  <a:srgbClr val="C00000"/>
                </a:solidFill>
                <a:latin typeface="Bookman Old Style" pitchFamily="18" charset="0"/>
              </a:rPr>
              <a:t>TEAM MEMBERS</a:t>
            </a:r>
          </a:p>
          <a:p>
            <a:pPr marL="285750" lvl="0" indent="-285750">
              <a:lnSpc>
                <a:spcPct val="90000"/>
              </a:lnSpc>
              <a:spcBef>
                <a:spcPct val="0"/>
              </a:spcBef>
              <a:buFont typeface="Arial" panose="020B0604020202020204" pitchFamily="34" charset="0"/>
              <a:buChar char="•"/>
            </a:pPr>
            <a:endParaRPr lang="en-US" sz="1600" dirty="0">
              <a:solidFill>
                <a:srgbClr val="C00000"/>
              </a:solidFill>
              <a:latin typeface="Bookman Old Style" pitchFamily="18" charset="0"/>
            </a:endParaRPr>
          </a:p>
          <a:p>
            <a:pPr marL="285750" lvl="0" indent="-285750">
              <a:lnSpc>
                <a:spcPct val="90000"/>
              </a:lnSpc>
              <a:spcBef>
                <a:spcPct val="0"/>
              </a:spcBef>
              <a:buFont typeface="Arial" panose="020B0604020202020204" pitchFamily="34" charset="0"/>
              <a:buChar char="•"/>
            </a:pPr>
            <a:r>
              <a:rPr lang="en-US" sz="1600" dirty="0">
                <a:solidFill>
                  <a:srgbClr val="7030A0"/>
                </a:solidFill>
                <a:latin typeface="Bookman Old Style" pitchFamily="18" charset="0"/>
              </a:rPr>
              <a:t>P.UMASRINU-25B11AI891</a:t>
            </a:r>
          </a:p>
          <a:p>
            <a:pPr marL="285750" lvl="0" indent="-285750">
              <a:lnSpc>
                <a:spcPct val="90000"/>
              </a:lnSpc>
              <a:spcBef>
                <a:spcPct val="0"/>
              </a:spcBef>
              <a:buFont typeface="Arial" panose="020B0604020202020204" pitchFamily="34" charset="0"/>
              <a:buChar char="•"/>
            </a:pPr>
            <a:r>
              <a:rPr lang="en-US" sz="1600" dirty="0" err="1">
                <a:solidFill>
                  <a:srgbClr val="7030A0"/>
                </a:solidFill>
                <a:latin typeface="Bookman Old Style" pitchFamily="18" charset="0"/>
              </a:rPr>
              <a:t>P.Udayakiran</a:t>
            </a:r>
            <a:r>
              <a:rPr lang="en-US" sz="1600" dirty="0">
                <a:solidFill>
                  <a:srgbClr val="7030A0"/>
                </a:solidFill>
                <a:latin typeface="Bookman Old Style" pitchFamily="18" charset="0"/>
              </a:rPr>
              <a:t> -25B11AI880</a:t>
            </a:r>
          </a:p>
          <a:p>
            <a:pPr marL="285750" lvl="0" indent="-285750">
              <a:lnSpc>
                <a:spcPct val="90000"/>
              </a:lnSpc>
              <a:spcBef>
                <a:spcPct val="0"/>
              </a:spcBef>
              <a:buFont typeface="Arial" panose="020B0604020202020204" pitchFamily="34" charset="0"/>
              <a:buChar char="•"/>
            </a:pPr>
            <a:r>
              <a:rPr lang="en-US" sz="1600" dirty="0" err="1">
                <a:solidFill>
                  <a:srgbClr val="7030A0"/>
                </a:solidFill>
                <a:latin typeface="Bookman Old Style" pitchFamily="18" charset="0"/>
              </a:rPr>
              <a:t>P.Madhavan</a:t>
            </a:r>
            <a:r>
              <a:rPr lang="en-US" sz="1600" dirty="0">
                <a:solidFill>
                  <a:srgbClr val="7030A0"/>
                </a:solidFill>
                <a:latin typeface="Bookman Old Style" pitchFamily="18" charset="0"/>
              </a:rPr>
              <a:t> -25B11AI873</a:t>
            </a:r>
          </a:p>
          <a:p>
            <a:pPr marL="285750" lvl="0" indent="-285750">
              <a:lnSpc>
                <a:spcPct val="90000"/>
              </a:lnSpc>
              <a:spcBef>
                <a:spcPct val="0"/>
              </a:spcBef>
              <a:buFont typeface="Arial" panose="020B0604020202020204" pitchFamily="34" charset="0"/>
              <a:buChar char="•"/>
            </a:pPr>
            <a:r>
              <a:rPr lang="en-US" sz="1600" dirty="0" err="1">
                <a:solidFill>
                  <a:srgbClr val="7030A0"/>
                </a:solidFill>
                <a:latin typeface="Bookman Old Style" pitchFamily="18" charset="0"/>
              </a:rPr>
              <a:t>P.Sudeep</a:t>
            </a:r>
            <a:r>
              <a:rPr lang="en-US" sz="1600" dirty="0">
                <a:solidFill>
                  <a:srgbClr val="7030A0"/>
                </a:solidFill>
                <a:latin typeface="Bookman Old Style" pitchFamily="18" charset="0"/>
              </a:rPr>
              <a:t>- 25B11AI941</a:t>
            </a:r>
          </a:p>
        </p:txBody>
      </p:sp>
    </p:spTree>
    <p:extLst>
      <p:ext uri="{59DB2955-81A9-4330-9517-4CB607EFC6F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851171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mph" presetSubtype="0" fill="hold" grpId="0" nodeType="clickEffect">
                                  <p:stCondLst>
                                    <p:cond delay="0"/>
                                  </p:stCondLst>
                                  <p:childTnLst>
                                    <p:animClr clrSpc="hsl" dir="cw">
                                      <p:cBhvr override="childStyle">
                                        <p:cTn id="6" dur="500" fill="hold"/>
                                        <p:tgtEl>
                                          <p:spTgt spid="2">
                                            <p:txEl>
                                              <p:pRg st="0" end="0"/>
                                            </p:txEl>
                                          </p:spTgt>
                                        </p:tgtEl>
                                        <p:attrNameLst>
                                          <p:attrName>style.color</p:attrName>
                                        </p:attrNameLst>
                                      </p:cBhvr>
                                      <p:by>
                                        <p:hsl h="0" s="-70588" l="0"/>
                                      </p:by>
                                    </p:animClr>
                                    <p:animClr clrSpc="hsl" dir="cw">
                                      <p:cBhvr>
                                        <p:cTn id="7" dur="500" fill="hold"/>
                                        <p:tgtEl>
                                          <p:spTgt spid="2">
                                            <p:txEl>
                                              <p:pRg st="0" end="0"/>
                                            </p:txEl>
                                          </p:spTgt>
                                        </p:tgtEl>
                                        <p:attrNameLst>
                                          <p:attrName>fillcolor</p:attrName>
                                        </p:attrNameLst>
                                      </p:cBhvr>
                                      <p:by>
                                        <p:hsl h="0" s="-70588" l="0"/>
                                      </p:by>
                                    </p:animClr>
                                    <p:animClr clrSpc="hsl" dir="cw">
                                      <p:cBhvr>
                                        <p:cTn id="8" dur="500" fill="hold"/>
                                        <p:tgtEl>
                                          <p:spTgt spid="2">
                                            <p:txEl>
                                              <p:pRg st="0" end="0"/>
                                            </p:txEl>
                                          </p:spTgt>
                                        </p:tgtEl>
                                        <p:attrNameLst>
                                          <p:attrName>stroke.color</p:attrName>
                                        </p:attrNameLst>
                                      </p:cBhvr>
                                      <p:by>
                                        <p:hsl h="0" s="-70588" l="0"/>
                                      </p:by>
                                    </p:animClr>
                                    <p:set>
                                      <p:cBhvr>
                                        <p:cTn id="9" dur="500" fill="hold"/>
                                        <p:tgtEl>
                                          <p:spTgt spid="2">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B8B6A0-92DB-0403-8AFB-A65C5747FE50}"/>
              </a:ext>
            </a:extLst>
          </p:cNvPr>
          <p:cNvSpPr>
            <a:spLocks noGrp="1"/>
          </p:cNvSpPr>
          <p:nvPr>
            <p:ph/>
          </p:nvPr>
        </p:nvSpPr>
        <p:spPr>
          <a:xfrm>
            <a:off x="840056" y="1046619"/>
            <a:ext cx="10515600" cy="4531419"/>
          </a:xfrm>
        </p:spPr>
        <p:txBody>
          <a:bodyPr vert="horz" lIns="91440" tIns="45720" rIns="91440" bIns="45720" rtlCol="0" anchor="t">
            <a:normAutofit/>
          </a:bodyPr>
          <a:lstStyle/>
          <a:p>
            <a:endParaRPr lang="en-US" dirty="0">
              <a:latin typeface="Bookman Old Style"/>
              <a:ea typeface="Calibri"/>
              <a:cs typeface="Calibri"/>
            </a:endParaRPr>
          </a:p>
          <a:p>
            <a:endParaRPr lang="en-US" dirty="0">
              <a:latin typeface="Bookman Old Style"/>
              <a:ea typeface="Calibri"/>
              <a:cs typeface="Calibri"/>
            </a:endParaRPr>
          </a:p>
          <a:p>
            <a:endParaRPr lang="en-US" dirty="0">
              <a:latin typeface="Bookman Old Style"/>
              <a:ea typeface="Calibri"/>
              <a:cs typeface="Calibri"/>
            </a:endParaRPr>
          </a:p>
          <a:p>
            <a:endParaRPr lang="en-US" dirty="0">
              <a:latin typeface="Bookman Old Style"/>
              <a:ea typeface="Calibri"/>
              <a:cs typeface="Calibri"/>
            </a:endParaRPr>
          </a:p>
        </p:txBody>
      </p:sp>
      <p:sp>
        <p:nvSpPr>
          <p:cNvPr id="3" name="TextBox 2">
            <a:extLst>
              <a:ext uri="{FF2B5EF4-FFF2-40B4-BE49-F238E27FC236}">
                <a16:creationId xmlns:a16="http://schemas.microsoft.com/office/drawing/2014/main" id="{7B513C2A-8CC4-E92D-61DC-49F10C6EEA90}"/>
              </a:ext>
            </a:extLst>
          </p:cNvPr>
          <p:cNvSpPr txBox="1"/>
          <p:nvPr/>
        </p:nvSpPr>
        <p:spPr>
          <a:xfrm>
            <a:off x="3697705" y="338733"/>
            <a:ext cx="4796589" cy="707886"/>
          </a:xfrm>
          <a:prstGeom prst="rect">
            <a:avLst/>
          </a:prstGeom>
          <a:noFill/>
        </p:spPr>
        <p:txBody>
          <a:bodyPr wrap="square" rtlCol="0">
            <a:spAutoFit/>
          </a:bodyPr>
          <a:lstStyle/>
          <a:p>
            <a:pPr algn="ctr"/>
            <a:r>
              <a:rPr lang="en-US" sz="4000" dirty="0">
                <a:solidFill>
                  <a:srgbClr val="FF0000"/>
                </a:solidFill>
                <a:latin typeface="Maiandra GD" panose="020E0502030308020204" pitchFamily="34" charset="0"/>
                <a:ea typeface="Calibri"/>
                <a:cs typeface="Times New Roman" panose="02020603050405020304" pitchFamily="18" charset="0"/>
              </a:rPr>
              <a:t>Contents</a:t>
            </a:r>
            <a:endParaRPr lang="en-US" sz="4000" dirty="0">
              <a:solidFill>
                <a:srgbClr val="FF0000"/>
              </a:solidFill>
              <a:latin typeface="Maiandra GD" panose="020E0502030308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0C01920-D9AD-99A8-C76A-AB135A09B92F}"/>
              </a:ext>
            </a:extLst>
          </p:cNvPr>
          <p:cNvSpPr txBox="1"/>
          <p:nvPr/>
        </p:nvSpPr>
        <p:spPr>
          <a:xfrm>
            <a:off x="160420" y="1279962"/>
            <a:ext cx="11871158" cy="5509200"/>
          </a:xfrm>
          <a:prstGeom prst="rect">
            <a:avLst/>
          </a:prstGeom>
          <a:noFill/>
        </p:spPr>
        <p:txBody>
          <a:bodyPr wrap="square" rtlCol="0">
            <a:spAutoFit/>
          </a:bodyPr>
          <a:lstStyle/>
          <a:p>
            <a:pPr marL="914400" indent="-457200">
              <a:buFont typeface="Arial"/>
              <a:buChar char="•"/>
            </a:pPr>
            <a:r>
              <a:rPr lang="en-US" sz="3200" dirty="0">
                <a:latin typeface="Times New Roman" panose="02020603050405020304" pitchFamily="18" charset="0"/>
                <a:ea typeface="Calibri"/>
                <a:cs typeface="Times New Roman" panose="02020603050405020304" pitchFamily="18" charset="0"/>
              </a:rPr>
              <a:t>Abstract</a:t>
            </a:r>
          </a:p>
          <a:p>
            <a:pPr marL="914400" indent="-457200">
              <a:buFont typeface="Arial"/>
              <a:buChar char="•"/>
            </a:pPr>
            <a:r>
              <a:rPr lang="en-US" sz="3200" dirty="0">
                <a:latin typeface="Times New Roman" panose="02020603050405020304" pitchFamily="18" charset="0"/>
                <a:ea typeface="Calibri"/>
                <a:cs typeface="Times New Roman" panose="02020603050405020304" pitchFamily="18" charset="0"/>
              </a:rPr>
              <a:t>Introduction</a:t>
            </a:r>
          </a:p>
          <a:p>
            <a:pPr marL="914400" indent="-457200">
              <a:buFont typeface="Arial"/>
              <a:buChar char="•"/>
            </a:pPr>
            <a:r>
              <a:rPr lang="en-US" sz="3200" dirty="0">
                <a:latin typeface="Times New Roman" panose="02020603050405020304" pitchFamily="18" charset="0"/>
                <a:ea typeface="Calibri"/>
                <a:cs typeface="Times New Roman" panose="02020603050405020304" pitchFamily="18" charset="0"/>
              </a:rPr>
              <a:t>Problem Definition</a:t>
            </a:r>
          </a:p>
          <a:p>
            <a:pPr marL="914400" indent="-457200">
              <a:buFont typeface="Arial"/>
              <a:buChar char="•"/>
            </a:pPr>
            <a:r>
              <a:rPr lang="en-US" sz="3200" dirty="0">
                <a:latin typeface="Times New Roman" panose="02020603050405020304" pitchFamily="18" charset="0"/>
                <a:ea typeface="Calibri"/>
                <a:cs typeface="Times New Roman" panose="02020603050405020304" pitchFamily="18" charset="0"/>
              </a:rPr>
              <a:t>Objectives</a:t>
            </a:r>
          </a:p>
          <a:p>
            <a:pPr marL="914400" indent="-457200">
              <a:buFont typeface="Arial"/>
              <a:buChar char="•"/>
            </a:pPr>
            <a:r>
              <a:rPr lang="en-US" sz="3200" dirty="0">
                <a:latin typeface="Times New Roman" panose="02020603050405020304" pitchFamily="18" charset="0"/>
                <a:ea typeface="Calibri"/>
                <a:cs typeface="Times New Roman" panose="02020603050405020304" pitchFamily="18" charset="0"/>
              </a:rPr>
              <a:t>Database Schema – Tables &amp; Attributes</a:t>
            </a:r>
          </a:p>
          <a:p>
            <a:pPr marL="914400" indent="-457200">
              <a:buFont typeface="Arial"/>
              <a:buChar char="•"/>
            </a:pPr>
            <a:r>
              <a:rPr lang="en-US" sz="3200" dirty="0">
                <a:latin typeface="Times New Roman" panose="02020603050405020304" pitchFamily="18" charset="0"/>
                <a:ea typeface="Calibri"/>
                <a:cs typeface="Times New Roman" panose="02020603050405020304" pitchFamily="18" charset="0"/>
              </a:rPr>
              <a:t>ER-Diagram-Entities &amp; Relationships</a:t>
            </a:r>
          </a:p>
          <a:p>
            <a:pPr marL="914400" indent="-457200">
              <a:buFont typeface="Arial"/>
              <a:buChar char="•"/>
            </a:pPr>
            <a:r>
              <a:rPr lang="en-US" sz="3200" dirty="0">
                <a:latin typeface="Times New Roman" panose="02020603050405020304" pitchFamily="18" charset="0"/>
                <a:ea typeface="Calibri"/>
                <a:cs typeface="Times New Roman" panose="02020603050405020304" pitchFamily="18" charset="0"/>
              </a:rPr>
              <a:t>Modules &amp; Functionalities</a:t>
            </a:r>
          </a:p>
          <a:p>
            <a:pPr marL="914400" indent="-457200">
              <a:buFont typeface="Arial"/>
              <a:buChar char="•"/>
            </a:pPr>
            <a:r>
              <a:rPr lang="en-US" sz="3200" dirty="0">
                <a:latin typeface="Times New Roman" panose="02020603050405020304" pitchFamily="18" charset="0"/>
                <a:ea typeface="Calibri"/>
                <a:cs typeface="Times New Roman" panose="02020603050405020304" pitchFamily="18" charset="0"/>
              </a:rPr>
              <a:t>SQL Operation  &amp; Queries</a:t>
            </a:r>
          </a:p>
          <a:p>
            <a:pPr marL="914400" indent="-457200">
              <a:buFont typeface="Arial"/>
              <a:buChar char="•"/>
            </a:pPr>
            <a:r>
              <a:rPr lang="en-US" sz="3200" dirty="0">
                <a:latin typeface="Times New Roman" panose="02020603050405020304" pitchFamily="18" charset="0"/>
                <a:ea typeface="Calibri"/>
                <a:cs typeface="Times New Roman" panose="02020603050405020304" pitchFamily="18" charset="0"/>
              </a:rPr>
              <a:t>Conclusion  </a:t>
            </a:r>
          </a:p>
          <a:p>
            <a:pPr marL="914400" indent="-457200">
              <a:buFont typeface="Arial"/>
              <a:buChar char="•"/>
            </a:pPr>
            <a:endParaRPr lang="en-US" sz="3200" dirty="0">
              <a:latin typeface="Times New Roman" panose="02020603050405020304" pitchFamily="18" charset="0"/>
              <a:ea typeface="Calibri"/>
              <a:cs typeface="Times New Roman" panose="02020603050405020304" pitchFamily="18" charset="0"/>
            </a:endParaRPr>
          </a:p>
          <a:p>
            <a:pPr marL="914400" indent="-457200">
              <a:buFont typeface="Arial"/>
              <a:buChar char="•"/>
            </a:pPr>
            <a:endParaRPr lang="en-US" sz="3200"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2758922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B69565-AFA0-B59F-FD97-61A953FA0F24}"/>
              </a:ext>
            </a:extLst>
          </p:cNvPr>
          <p:cNvSpPr>
            <a:spLocks noGrp="1"/>
          </p:cNvSpPr>
          <p:nvPr>
            <p:ph/>
          </p:nvPr>
        </p:nvSpPr>
        <p:spPr/>
        <p:txBody>
          <a:bodyPr>
            <a:noAutofit/>
          </a:bodyPr>
          <a:lstStyle/>
          <a:p>
            <a:pPr>
              <a:lnSpc>
                <a:spcPct val="150000"/>
              </a:lnSpc>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Hospital Management System</a:t>
            </a:r>
            <a:r>
              <a:rPr lang="en-IN" dirty="0">
                <a:latin typeface="Times New Roman" panose="02020603050405020304" pitchFamily="18" charset="0"/>
                <a:cs typeface="Times New Roman" panose="02020603050405020304" pitchFamily="18" charset="0"/>
              </a:rPr>
              <a:t> is a software application used to manage hospital activities such as </a:t>
            </a:r>
            <a:r>
              <a:rPr lang="en-IN" b="1" dirty="0">
                <a:latin typeface="Times New Roman" panose="02020603050405020304" pitchFamily="18" charset="0"/>
                <a:cs typeface="Times New Roman" panose="02020603050405020304" pitchFamily="18" charset="0"/>
              </a:rPr>
              <a:t>patient registration, doctor details, appointments, medical records, medicines, and billing</a:t>
            </a:r>
            <a:r>
              <a:rPr lang="en-IN" dirty="0">
                <a:latin typeface="Times New Roman" panose="02020603050405020304" pitchFamily="18" charset="0"/>
                <a:cs typeface="Times New Roman" panose="02020603050405020304" pitchFamily="18" charset="0"/>
              </a:rPr>
              <a:t>. It reduces paperwork, saves time, minimizes errors, and provides easy access to patient information. The main aim is to make hospital management </a:t>
            </a:r>
            <a:r>
              <a:rPr lang="en-IN" b="1" dirty="0">
                <a:latin typeface="Times New Roman" panose="02020603050405020304" pitchFamily="18" charset="0"/>
                <a:cs typeface="Times New Roman" panose="02020603050405020304" pitchFamily="18" charset="0"/>
              </a:rPr>
              <a:t>simple, fast, and efficient</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028BA61-CA43-D731-876D-ADD0A39BB05E}"/>
              </a:ext>
            </a:extLst>
          </p:cNvPr>
          <p:cNvSpPr txBox="1"/>
          <p:nvPr/>
        </p:nvSpPr>
        <p:spPr>
          <a:xfrm>
            <a:off x="4336025" y="353962"/>
            <a:ext cx="3136491" cy="584775"/>
          </a:xfrm>
          <a:prstGeom prst="rect">
            <a:avLst/>
          </a:prstGeom>
          <a:noFill/>
        </p:spPr>
        <p:txBody>
          <a:bodyPr wrap="square" rtlCol="0">
            <a:spAutoFit/>
          </a:bodyPr>
          <a:lstStyle/>
          <a:p>
            <a:pPr marL="457200"/>
            <a:r>
              <a:rPr lang="en-US" sz="3200" dirty="0">
                <a:solidFill>
                  <a:srgbClr val="FF0000"/>
                </a:solidFill>
                <a:latin typeface="Maiandra GD" panose="020E0502030308020204" pitchFamily="34" charset="0"/>
                <a:ea typeface="Calibri"/>
                <a:cs typeface="Times New Roman" panose="02020603050405020304" pitchFamily="18" charset="0"/>
              </a:rPr>
              <a:t>    Abstract</a:t>
            </a:r>
          </a:p>
        </p:txBody>
      </p:sp>
    </p:spTree>
    <p:extLst>
      <p:ext uri="{BB962C8B-B14F-4D97-AF65-F5344CB8AC3E}">
        <p14:creationId xmlns:p14="http://schemas.microsoft.com/office/powerpoint/2010/main" val="3831457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7638EF-79CB-6A45-92CF-EDCDCECCDA1D}"/>
              </a:ext>
            </a:extLst>
          </p:cNvPr>
          <p:cNvSpPr>
            <a:spLocks noGrp="1"/>
          </p:cNvSpPr>
          <p:nvPr>
            <p:ph/>
          </p:nvPr>
        </p:nvSpPr>
        <p:spPr/>
        <p:txBody>
          <a:bodyPr/>
          <a:lstStyle/>
          <a:p>
            <a:pPr>
              <a:lnSpc>
                <a:spcPct val="150000"/>
              </a:lnSpc>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Hospital Management System</a:t>
            </a:r>
            <a:r>
              <a:rPr lang="en-IN" dirty="0">
                <a:latin typeface="Times New Roman" panose="02020603050405020304" pitchFamily="18" charset="0"/>
                <a:cs typeface="Times New Roman" panose="02020603050405020304" pitchFamily="18" charset="0"/>
              </a:rPr>
              <a:t> is a computerized system designed to manage and organize hospital activities efficiently. It helps maintain </a:t>
            </a:r>
            <a:r>
              <a:rPr lang="en-IN" b="1" dirty="0">
                <a:latin typeface="Times New Roman" panose="02020603050405020304" pitchFamily="18" charset="0"/>
                <a:cs typeface="Times New Roman" panose="02020603050405020304" pitchFamily="18" charset="0"/>
              </a:rPr>
              <a:t>patient records, doctor details, appointments, medicines, and billing</a:t>
            </a:r>
            <a:r>
              <a:rPr lang="en-IN" dirty="0">
                <a:latin typeface="Times New Roman" panose="02020603050405020304" pitchFamily="18" charset="0"/>
                <a:cs typeface="Times New Roman" panose="02020603050405020304" pitchFamily="18" charset="0"/>
              </a:rPr>
              <a:t>. The system reduces manual paperwork, saves time, minimizes errors, and provides quick access to information. Its main purpose is to improve the </a:t>
            </a:r>
            <a:r>
              <a:rPr lang="en-IN" b="1" dirty="0">
                <a:latin typeface="Times New Roman" panose="02020603050405020304" pitchFamily="18" charset="0"/>
                <a:cs typeface="Times New Roman" panose="02020603050405020304" pitchFamily="18" charset="0"/>
              </a:rPr>
              <a:t>efficiency and quality of hospital services</a:t>
            </a:r>
            <a:r>
              <a:rPr lang="en-IN"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8509D5C5-AECF-56A3-3A4E-66AB1E26FEE2}"/>
              </a:ext>
            </a:extLst>
          </p:cNvPr>
          <p:cNvSpPr txBox="1"/>
          <p:nvPr/>
        </p:nvSpPr>
        <p:spPr>
          <a:xfrm>
            <a:off x="4581833" y="648927"/>
            <a:ext cx="5742038" cy="584775"/>
          </a:xfrm>
          <a:prstGeom prst="rect">
            <a:avLst/>
          </a:prstGeom>
          <a:noFill/>
        </p:spPr>
        <p:txBody>
          <a:bodyPr wrap="square" rtlCol="0">
            <a:spAutoFit/>
          </a:bodyPr>
          <a:lstStyle/>
          <a:p>
            <a:pPr marL="457200"/>
            <a:r>
              <a:rPr lang="en-US" sz="3200" dirty="0">
                <a:solidFill>
                  <a:srgbClr val="FF0000"/>
                </a:solidFill>
                <a:latin typeface="Maiandra GD" panose="020E0502030308020204" pitchFamily="34" charset="0"/>
                <a:ea typeface="Calibri"/>
                <a:cs typeface="Times New Roman" panose="02020603050405020304" pitchFamily="18" charset="0"/>
              </a:rPr>
              <a:t>Introduction</a:t>
            </a:r>
          </a:p>
        </p:txBody>
      </p:sp>
    </p:spTree>
    <p:extLst>
      <p:ext uri="{BB962C8B-B14F-4D97-AF65-F5344CB8AC3E}">
        <p14:creationId xmlns:p14="http://schemas.microsoft.com/office/powerpoint/2010/main" val="798522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1B43AD-62C7-E262-9063-01E8E9A9FEA7}"/>
              </a:ext>
            </a:extLst>
          </p:cNvPr>
          <p:cNvSpPr>
            <a:spLocks noGrp="1"/>
          </p:cNvSpPr>
          <p:nvPr>
            <p:ph/>
          </p:nvPr>
        </p:nvSpPr>
        <p:spPr/>
        <p:txBody>
          <a:bodyPr/>
          <a:lstStyle/>
          <a:p>
            <a:pPr>
              <a:lnSpc>
                <a:spcPct val="150000"/>
              </a:lnSpc>
            </a:pPr>
            <a:r>
              <a:rPr lang="en-IN" dirty="0">
                <a:latin typeface="Times New Roman" panose="02020603050405020304" pitchFamily="18" charset="0"/>
                <a:cs typeface="Times New Roman" panose="02020603050405020304" pitchFamily="18" charset="0"/>
              </a:rPr>
              <a:t>Managing hospital activities manually is time-consuming and can lead to errors in patient records, appointments, and billing. It is difficult to store and retrieve information quickly. Therefore, a computerized Hospital Management System is needed to manage hospital information efficiently and accurately</a:t>
            </a:r>
          </a:p>
        </p:txBody>
      </p:sp>
      <p:sp>
        <p:nvSpPr>
          <p:cNvPr id="4" name="TextBox 3">
            <a:extLst>
              <a:ext uri="{FF2B5EF4-FFF2-40B4-BE49-F238E27FC236}">
                <a16:creationId xmlns:a16="http://schemas.microsoft.com/office/drawing/2014/main" id="{70D8637A-E134-98C9-8816-CDA202C32FE4}"/>
              </a:ext>
            </a:extLst>
          </p:cNvPr>
          <p:cNvSpPr txBox="1"/>
          <p:nvPr/>
        </p:nvSpPr>
        <p:spPr>
          <a:xfrm>
            <a:off x="2045110" y="560438"/>
            <a:ext cx="7875639" cy="584775"/>
          </a:xfrm>
          <a:prstGeom prst="rect">
            <a:avLst/>
          </a:prstGeom>
          <a:noFill/>
        </p:spPr>
        <p:txBody>
          <a:bodyPr wrap="square" rtlCol="0">
            <a:spAutoFit/>
          </a:bodyPr>
          <a:lstStyle/>
          <a:p>
            <a:pPr marL="457200"/>
            <a:r>
              <a:rPr lang="en-US" sz="3200" dirty="0">
                <a:solidFill>
                  <a:srgbClr val="FF0000"/>
                </a:solidFill>
                <a:latin typeface="Maiandra GD" panose="020E0502030308020204" pitchFamily="34" charset="0"/>
                <a:ea typeface="Calibri"/>
                <a:cs typeface="Times New Roman" panose="02020603050405020304" pitchFamily="18" charset="0"/>
              </a:rPr>
              <a:t>                 Problem Definition</a:t>
            </a:r>
          </a:p>
        </p:txBody>
      </p:sp>
    </p:spTree>
    <p:extLst>
      <p:ext uri="{BB962C8B-B14F-4D97-AF65-F5344CB8AC3E}">
        <p14:creationId xmlns:p14="http://schemas.microsoft.com/office/powerpoint/2010/main" val="1381405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95815B-42FA-6E10-8C3B-7275B9EBA7AF}"/>
              </a:ext>
            </a:extLst>
          </p:cNvPr>
          <p:cNvSpPr>
            <a:spLocks noGrp="1"/>
          </p:cNvSpPr>
          <p:nvPr>
            <p:ph/>
          </p:nvPr>
        </p:nvSpPr>
        <p:spPr>
          <a:xfrm>
            <a:off x="936523" y="1080096"/>
            <a:ext cx="10515600" cy="4531419"/>
          </a:xfrm>
        </p:spPr>
        <p:txBody>
          <a:bodyPr>
            <a:noAutofit/>
          </a:bodyPr>
          <a:lstStyle/>
          <a:p>
            <a:pPr lvl="0">
              <a:lnSpc>
                <a:spcPct val="160000"/>
              </a:lnSpc>
            </a:pPr>
            <a:r>
              <a:rPr lang="en-IN" sz="2000" dirty="0">
                <a:latin typeface="Times New Roman" panose="02020603050405020304" pitchFamily="18" charset="0"/>
                <a:cs typeface="Times New Roman" panose="02020603050405020304" pitchFamily="18" charset="0"/>
              </a:rPr>
              <a:t>• To computerize all patient and hospital details.</a:t>
            </a:r>
          </a:p>
          <a:p>
            <a:pPr lvl="0">
              <a:lnSpc>
                <a:spcPct val="160000"/>
              </a:lnSpc>
            </a:pPr>
            <a:r>
              <a:rPr lang="en-IN" sz="2000" dirty="0">
                <a:latin typeface="Times New Roman" panose="02020603050405020304" pitchFamily="18" charset="0"/>
                <a:cs typeface="Times New Roman" panose="02020603050405020304" pitchFamily="18" charset="0"/>
              </a:rPr>
              <a:t>• To schedule appointments between patients and doctors.</a:t>
            </a:r>
          </a:p>
          <a:p>
            <a:pPr lvl="0">
              <a:lnSpc>
                <a:spcPct val="160000"/>
              </a:lnSpc>
            </a:pPr>
            <a:r>
              <a:rPr lang="en-IN" sz="2000" dirty="0">
                <a:latin typeface="Times New Roman" panose="02020603050405020304" pitchFamily="18" charset="0"/>
                <a:cs typeface="Times New Roman" panose="02020603050405020304" pitchFamily="18" charset="0"/>
              </a:rPr>
              <a:t>• To improve patient care and service quality. </a:t>
            </a:r>
          </a:p>
          <a:p>
            <a:pPr lvl="0">
              <a:lnSpc>
                <a:spcPct val="160000"/>
              </a:lnSpc>
            </a:pPr>
            <a:r>
              <a:rPr lang="en-IN" sz="2000" dirty="0">
                <a:latin typeface="Times New Roman" panose="02020603050405020304" pitchFamily="18" charset="0"/>
                <a:cs typeface="Times New Roman" panose="02020603050405020304" pitchFamily="18" charset="0"/>
              </a:rPr>
              <a:t>• To reduce hospital operating costs and paperwork.</a:t>
            </a:r>
          </a:p>
          <a:p>
            <a:pPr lvl="0">
              <a:lnSpc>
                <a:spcPct val="160000"/>
              </a:lnSpc>
            </a:pPr>
            <a:r>
              <a:rPr lang="en-IN" sz="2000" dirty="0">
                <a:latin typeface="Times New Roman" panose="02020603050405020304" pitchFamily="18" charset="0"/>
                <a:cs typeface="Times New Roman" panose="02020603050405020304" pitchFamily="18" charset="0"/>
              </a:rPr>
              <a:t>• To provide reports for better decision-making.</a:t>
            </a:r>
          </a:p>
          <a:p>
            <a:pPr lvl="0">
              <a:lnSpc>
                <a:spcPct val="160000"/>
              </a:lnSpc>
            </a:pPr>
            <a:r>
              <a:rPr lang="en-IN" sz="2000" dirty="0">
                <a:latin typeface="Times New Roman" panose="02020603050405020304" pitchFamily="18" charset="0"/>
                <a:cs typeface="Times New Roman" panose="02020603050405020304" pitchFamily="18" charset="0"/>
              </a:rPr>
              <a:t>• To improve coordination among different departments.</a:t>
            </a:r>
          </a:p>
          <a:p>
            <a:pPr lvl="0">
              <a:lnSpc>
                <a:spcPct val="160000"/>
              </a:lnSpc>
            </a:pPr>
            <a:r>
              <a:rPr lang="en-IN" sz="2000" dirty="0">
                <a:latin typeface="Times New Roman" panose="02020603050405020304" pitchFamily="18" charset="0"/>
                <a:cs typeface="Times New Roman" panose="02020603050405020304" pitchFamily="18" charset="0"/>
              </a:rPr>
              <a:t>• To keep patient records updated and easy to access.</a:t>
            </a:r>
          </a:p>
          <a:p>
            <a:pPr lvl="0">
              <a:lnSpc>
                <a:spcPct val="160000"/>
              </a:lnSpc>
            </a:pPr>
            <a:r>
              <a:rPr lang="en-IN" sz="2000" dirty="0">
                <a:latin typeface="Times New Roman" panose="02020603050405020304" pitchFamily="18" charset="0"/>
                <a:cs typeface="Times New Roman" panose="02020603050405020304" pitchFamily="18" charset="0"/>
              </a:rPr>
              <a:t>• To manage billing, inventory, and test reports efficiently.</a:t>
            </a:r>
          </a:p>
          <a:p>
            <a:pPr lvl="0">
              <a:lnSpc>
                <a:spcPct val="160000"/>
              </a:lnSpc>
            </a:pPr>
            <a:r>
              <a:rPr lang="en-IN" sz="2000" dirty="0">
                <a:latin typeface="Times New Roman" panose="02020603050405020304" pitchFamily="18" charset="0"/>
                <a:cs typeface="Times New Roman" panose="02020603050405020304" pitchFamily="18" charset="0"/>
              </a:rPr>
              <a:t>• To increase the efficient use of hospital facilities.</a:t>
            </a:r>
          </a:p>
          <a:p>
            <a:pPr lvl="0">
              <a:lnSpc>
                <a:spcPct val="160000"/>
              </a:lnSpc>
            </a:pP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6DF73B4-111D-A888-F178-CC87C115DD61}"/>
              </a:ext>
            </a:extLst>
          </p:cNvPr>
          <p:cNvSpPr txBox="1"/>
          <p:nvPr/>
        </p:nvSpPr>
        <p:spPr>
          <a:xfrm>
            <a:off x="4109885" y="285505"/>
            <a:ext cx="3675183" cy="584775"/>
          </a:xfrm>
          <a:prstGeom prst="rect">
            <a:avLst/>
          </a:prstGeom>
          <a:noFill/>
        </p:spPr>
        <p:txBody>
          <a:bodyPr wrap="square" rtlCol="0">
            <a:spAutoFit/>
          </a:bodyPr>
          <a:lstStyle/>
          <a:p>
            <a:pPr marL="457200" algn="ctr"/>
            <a:r>
              <a:rPr lang="en-US" sz="3200" dirty="0">
                <a:solidFill>
                  <a:srgbClr val="FF0000"/>
                </a:solidFill>
                <a:latin typeface="Maiandra GD" panose="020E0502030308020204" pitchFamily="34" charset="0"/>
                <a:ea typeface="Calibri"/>
                <a:cs typeface="Times New Roman" panose="02020603050405020304" pitchFamily="18" charset="0"/>
              </a:rPr>
              <a:t>Objectives</a:t>
            </a:r>
          </a:p>
        </p:txBody>
      </p:sp>
    </p:spTree>
    <p:extLst>
      <p:ext uri="{BB962C8B-B14F-4D97-AF65-F5344CB8AC3E}">
        <p14:creationId xmlns:p14="http://schemas.microsoft.com/office/powerpoint/2010/main" val="3052333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15">
            <a:extLst>
              <a:ext uri="{FF2B5EF4-FFF2-40B4-BE49-F238E27FC236}">
                <a16:creationId xmlns:a16="http://schemas.microsoft.com/office/drawing/2014/main" id="{117EC4B4-2130-30E4-9282-054D8C600D93}"/>
              </a:ext>
            </a:extLst>
          </p:cNvPr>
          <p:cNvGraphicFramePr>
            <a:graphicFrameLocks noGrp="1"/>
          </p:cNvGraphicFramePr>
          <p:nvPr>
            <p:ph/>
            <p:extLst>
              <p:ext uri="{D42A27DB-BD31-4B8C-83A1-F6EECF244321}">
                <p14:modId xmlns:p14="http://schemas.microsoft.com/office/powerpoint/2010/main" val="3099850073"/>
              </p:ext>
            </p:extLst>
          </p:nvPr>
        </p:nvGraphicFramePr>
        <p:xfrm>
          <a:off x="604520" y="1593890"/>
          <a:ext cx="10932159" cy="4898349"/>
        </p:xfrm>
        <a:graphic>
          <a:graphicData uri="http://schemas.openxmlformats.org/drawingml/2006/table">
            <a:tbl>
              <a:tblPr>
                <a:tableStyleId>{42F484E2-D13C-4198-809A-BEC5E46278DC}</a:tableStyleId>
              </a:tblPr>
              <a:tblGrid>
                <a:gridCol w="3644053">
                  <a:extLst>
                    <a:ext uri="{9D8B030D-6E8A-4147-A177-3AD203B41FA5}">
                      <a16:colId xmlns:a16="http://schemas.microsoft.com/office/drawing/2014/main" val="3709448506"/>
                    </a:ext>
                  </a:extLst>
                </a:gridCol>
                <a:gridCol w="3644053">
                  <a:extLst>
                    <a:ext uri="{9D8B030D-6E8A-4147-A177-3AD203B41FA5}">
                      <a16:colId xmlns:a16="http://schemas.microsoft.com/office/drawing/2014/main" val="418280278"/>
                    </a:ext>
                  </a:extLst>
                </a:gridCol>
                <a:gridCol w="3644053">
                  <a:extLst>
                    <a:ext uri="{9D8B030D-6E8A-4147-A177-3AD203B41FA5}">
                      <a16:colId xmlns:a16="http://schemas.microsoft.com/office/drawing/2014/main" val="2138706193"/>
                    </a:ext>
                  </a:extLst>
                </a:gridCol>
              </a:tblGrid>
              <a:tr h="252520">
                <a:tc>
                  <a:txBody>
                    <a:bodyPr/>
                    <a:lstStyle/>
                    <a:p>
                      <a:pPr>
                        <a:buNone/>
                      </a:pPr>
                      <a:r>
                        <a:rPr lang="en-IN" sz="1200" b="1"/>
                        <a:t>Table Name</a:t>
                      </a:r>
                      <a:endParaRPr lang="en-IN" sz="1200"/>
                    </a:p>
                  </a:txBody>
                  <a:tcPr marL="59615" marR="59615" marT="29807" marB="29807" anchor="ctr"/>
                </a:tc>
                <a:tc>
                  <a:txBody>
                    <a:bodyPr/>
                    <a:lstStyle/>
                    <a:p>
                      <a:pPr>
                        <a:buNone/>
                      </a:pPr>
                      <a:r>
                        <a:rPr lang="en-IN" sz="1200" b="1"/>
                        <a:t>Attributes</a:t>
                      </a:r>
                      <a:endParaRPr lang="en-IN" sz="1200"/>
                    </a:p>
                  </a:txBody>
                  <a:tcPr marL="59615" marR="59615" marT="29807" marB="29807" anchor="ctr"/>
                </a:tc>
                <a:tc>
                  <a:txBody>
                    <a:bodyPr/>
                    <a:lstStyle/>
                    <a:p>
                      <a:pPr>
                        <a:buNone/>
                      </a:pPr>
                      <a:r>
                        <a:rPr lang="en-IN" sz="1200" b="1"/>
                        <a:t>Key</a:t>
                      </a:r>
                      <a:endParaRPr lang="en-IN" sz="1200"/>
                    </a:p>
                  </a:txBody>
                  <a:tcPr marL="59615" marR="59615" marT="29807" marB="29807" anchor="ctr"/>
                </a:tc>
                <a:extLst>
                  <a:ext uri="{0D108BD9-81ED-4DB2-BD59-A6C34878D82A}">
                    <a16:rowId xmlns:a16="http://schemas.microsoft.com/office/drawing/2014/main" val="4088534301"/>
                  </a:ext>
                </a:extLst>
              </a:tr>
              <a:tr h="442961">
                <a:tc>
                  <a:txBody>
                    <a:bodyPr/>
                    <a:lstStyle/>
                    <a:p>
                      <a:pPr>
                        <a:buNone/>
                      </a:pPr>
                      <a:r>
                        <a:rPr lang="en-IN" sz="1200" b="1" dirty="0"/>
                        <a:t>Patient</a:t>
                      </a:r>
                      <a:endParaRPr lang="en-IN" sz="1200" dirty="0"/>
                    </a:p>
                  </a:txBody>
                  <a:tcPr marL="59615" marR="59615" marT="29807" marB="29807" anchor="ctr"/>
                </a:tc>
                <a:tc>
                  <a:txBody>
                    <a:bodyPr/>
                    <a:lstStyle/>
                    <a:p>
                      <a:pPr>
                        <a:buNone/>
                      </a:pPr>
                      <a:r>
                        <a:rPr lang="en-IN" sz="1200"/>
                        <a:t>Patient_ID, Name, Age, Gender, Phone, Address, Blood_Group</a:t>
                      </a:r>
                    </a:p>
                  </a:txBody>
                  <a:tcPr marL="59615" marR="59615" marT="29807" marB="29807" anchor="ctr"/>
                </a:tc>
                <a:tc>
                  <a:txBody>
                    <a:bodyPr/>
                    <a:lstStyle/>
                    <a:p>
                      <a:pPr>
                        <a:buNone/>
                      </a:pPr>
                      <a:r>
                        <a:rPr lang="en-IN" sz="1200"/>
                        <a:t>Patient_ID – PK</a:t>
                      </a:r>
                    </a:p>
                  </a:txBody>
                  <a:tcPr marL="59615" marR="59615" marT="29807" marB="29807" anchor="ctr"/>
                </a:tc>
                <a:extLst>
                  <a:ext uri="{0D108BD9-81ED-4DB2-BD59-A6C34878D82A}">
                    <a16:rowId xmlns:a16="http://schemas.microsoft.com/office/drawing/2014/main" val="2838622183"/>
                  </a:ext>
                </a:extLst>
              </a:tr>
              <a:tr h="442961">
                <a:tc>
                  <a:txBody>
                    <a:bodyPr/>
                    <a:lstStyle/>
                    <a:p>
                      <a:pPr>
                        <a:buNone/>
                      </a:pPr>
                      <a:r>
                        <a:rPr lang="en-IN" sz="1200" b="1"/>
                        <a:t>Doctor</a:t>
                      </a:r>
                      <a:endParaRPr lang="en-IN" sz="1200"/>
                    </a:p>
                  </a:txBody>
                  <a:tcPr marL="59615" marR="59615" marT="29807" marB="29807" anchor="ctr"/>
                </a:tc>
                <a:tc>
                  <a:txBody>
                    <a:bodyPr/>
                    <a:lstStyle/>
                    <a:p>
                      <a:pPr>
                        <a:buNone/>
                      </a:pPr>
                      <a:r>
                        <a:rPr lang="en-IN" sz="1200"/>
                        <a:t>Doctor_ID, Name, Specialization, Phone, Email, Department_ID</a:t>
                      </a:r>
                    </a:p>
                  </a:txBody>
                  <a:tcPr marL="59615" marR="59615" marT="29807" marB="29807" anchor="ctr"/>
                </a:tc>
                <a:tc>
                  <a:txBody>
                    <a:bodyPr/>
                    <a:lstStyle/>
                    <a:p>
                      <a:pPr>
                        <a:buNone/>
                      </a:pPr>
                      <a:r>
                        <a:rPr lang="en-IN" sz="1200"/>
                        <a:t>Doctor_ID – PK, Department_ID – FK</a:t>
                      </a:r>
                    </a:p>
                  </a:txBody>
                  <a:tcPr marL="59615" marR="59615" marT="29807" marB="29807" anchor="ctr"/>
                </a:tc>
                <a:extLst>
                  <a:ext uri="{0D108BD9-81ED-4DB2-BD59-A6C34878D82A}">
                    <a16:rowId xmlns:a16="http://schemas.microsoft.com/office/drawing/2014/main" val="4220223474"/>
                  </a:ext>
                </a:extLst>
              </a:tr>
              <a:tr h="431197">
                <a:tc>
                  <a:txBody>
                    <a:bodyPr/>
                    <a:lstStyle/>
                    <a:p>
                      <a:pPr>
                        <a:buNone/>
                      </a:pPr>
                      <a:r>
                        <a:rPr lang="en-IN" sz="1200" b="1"/>
                        <a:t>Department</a:t>
                      </a:r>
                      <a:endParaRPr lang="en-IN" sz="1200"/>
                    </a:p>
                  </a:txBody>
                  <a:tcPr marL="59615" marR="59615" marT="29807" marB="29807" anchor="ctr"/>
                </a:tc>
                <a:tc>
                  <a:txBody>
                    <a:bodyPr/>
                    <a:lstStyle/>
                    <a:p>
                      <a:pPr>
                        <a:buNone/>
                      </a:pPr>
                      <a:r>
                        <a:rPr lang="en-IN" sz="1200"/>
                        <a:t>Department_ID, Department_Name, Location</a:t>
                      </a:r>
                    </a:p>
                  </a:txBody>
                  <a:tcPr marL="59615" marR="59615" marT="29807" marB="29807" anchor="ctr"/>
                </a:tc>
                <a:tc>
                  <a:txBody>
                    <a:bodyPr/>
                    <a:lstStyle/>
                    <a:p>
                      <a:pPr>
                        <a:buNone/>
                      </a:pPr>
                      <a:r>
                        <a:rPr lang="en-IN" sz="1200"/>
                        <a:t>Department_ID – PK</a:t>
                      </a:r>
                    </a:p>
                  </a:txBody>
                  <a:tcPr marL="59615" marR="59615" marT="29807" marB="29807" anchor="ctr"/>
                </a:tc>
                <a:extLst>
                  <a:ext uri="{0D108BD9-81ED-4DB2-BD59-A6C34878D82A}">
                    <a16:rowId xmlns:a16="http://schemas.microsoft.com/office/drawing/2014/main" val="2180530581"/>
                  </a:ext>
                </a:extLst>
              </a:tr>
              <a:tr h="616579">
                <a:tc>
                  <a:txBody>
                    <a:bodyPr/>
                    <a:lstStyle/>
                    <a:p>
                      <a:pPr>
                        <a:buNone/>
                      </a:pPr>
                      <a:r>
                        <a:rPr lang="en-IN" sz="1200" b="1"/>
                        <a:t>Appointment</a:t>
                      </a:r>
                      <a:endParaRPr lang="en-IN" sz="1200"/>
                    </a:p>
                  </a:txBody>
                  <a:tcPr marL="59615" marR="59615" marT="29807" marB="29807" anchor="ctr"/>
                </a:tc>
                <a:tc>
                  <a:txBody>
                    <a:bodyPr/>
                    <a:lstStyle/>
                    <a:p>
                      <a:pPr>
                        <a:buNone/>
                      </a:pPr>
                      <a:r>
                        <a:rPr lang="en-IN" sz="1200"/>
                        <a:t>Appointment_ID, Patient_ID, Doctor_ID, Appointment_Date, Appointment_Time, Status</a:t>
                      </a:r>
                    </a:p>
                  </a:txBody>
                  <a:tcPr marL="59615" marR="59615" marT="29807" marB="29807" anchor="ctr"/>
                </a:tc>
                <a:tc>
                  <a:txBody>
                    <a:bodyPr/>
                    <a:lstStyle/>
                    <a:p>
                      <a:pPr>
                        <a:buNone/>
                      </a:pPr>
                      <a:r>
                        <a:rPr lang="en-IN" sz="1200"/>
                        <a:t>Appointment_ID – PK, Patient_ID – FK, Doctor_ID – FK</a:t>
                      </a:r>
                    </a:p>
                  </a:txBody>
                  <a:tcPr marL="59615" marR="59615" marT="29807" marB="29807" anchor="ctr"/>
                </a:tc>
                <a:extLst>
                  <a:ext uri="{0D108BD9-81ED-4DB2-BD59-A6C34878D82A}">
                    <a16:rowId xmlns:a16="http://schemas.microsoft.com/office/drawing/2014/main" val="407085432"/>
                  </a:ext>
                </a:extLst>
              </a:tr>
              <a:tr h="431197">
                <a:tc>
                  <a:txBody>
                    <a:bodyPr/>
                    <a:lstStyle/>
                    <a:p>
                      <a:pPr>
                        <a:buNone/>
                      </a:pPr>
                      <a:r>
                        <a:rPr lang="en-IN" sz="1200" b="1"/>
                        <a:t>Nurse</a:t>
                      </a:r>
                      <a:endParaRPr lang="en-IN" sz="1200"/>
                    </a:p>
                  </a:txBody>
                  <a:tcPr marL="59615" marR="59615" marT="29807" marB="29807" anchor="ctr"/>
                </a:tc>
                <a:tc>
                  <a:txBody>
                    <a:bodyPr/>
                    <a:lstStyle/>
                    <a:p>
                      <a:pPr>
                        <a:buNone/>
                      </a:pPr>
                      <a:r>
                        <a:rPr lang="en-IN" sz="1200"/>
                        <a:t>Nurse_ID, Name, Phone, Shift, Department_ID</a:t>
                      </a:r>
                    </a:p>
                  </a:txBody>
                  <a:tcPr marL="59615" marR="59615" marT="29807" marB="29807" anchor="ctr"/>
                </a:tc>
                <a:tc>
                  <a:txBody>
                    <a:bodyPr/>
                    <a:lstStyle/>
                    <a:p>
                      <a:pPr>
                        <a:buNone/>
                      </a:pPr>
                      <a:r>
                        <a:rPr lang="en-IN" sz="1200"/>
                        <a:t>Nurse_ID – PK, Department_ID – FK</a:t>
                      </a:r>
                    </a:p>
                  </a:txBody>
                  <a:tcPr marL="59615" marR="59615" marT="29807" marB="29807" anchor="ctr"/>
                </a:tc>
                <a:extLst>
                  <a:ext uri="{0D108BD9-81ED-4DB2-BD59-A6C34878D82A}">
                    <a16:rowId xmlns:a16="http://schemas.microsoft.com/office/drawing/2014/main" val="2843792197"/>
                  </a:ext>
                </a:extLst>
              </a:tr>
              <a:tr h="616579">
                <a:tc>
                  <a:txBody>
                    <a:bodyPr/>
                    <a:lstStyle/>
                    <a:p>
                      <a:pPr>
                        <a:buNone/>
                      </a:pPr>
                      <a:r>
                        <a:rPr lang="en-IN" sz="1200" b="1"/>
                        <a:t>Room</a:t>
                      </a:r>
                      <a:endParaRPr lang="en-IN" sz="1200"/>
                    </a:p>
                  </a:txBody>
                  <a:tcPr marL="59615" marR="59615" marT="29807" marB="29807" anchor="ctr"/>
                </a:tc>
                <a:tc>
                  <a:txBody>
                    <a:bodyPr/>
                    <a:lstStyle/>
                    <a:p>
                      <a:pPr>
                        <a:buNone/>
                      </a:pPr>
                      <a:r>
                        <a:rPr lang="en-IN" sz="1200"/>
                        <a:t>Room_ID, Room_Number, Room_Type, Availability, Patient_ID</a:t>
                      </a:r>
                    </a:p>
                  </a:txBody>
                  <a:tcPr marL="59615" marR="59615" marT="29807" marB="29807" anchor="ctr"/>
                </a:tc>
                <a:tc>
                  <a:txBody>
                    <a:bodyPr/>
                    <a:lstStyle/>
                    <a:p>
                      <a:pPr>
                        <a:buNone/>
                      </a:pPr>
                      <a:r>
                        <a:rPr lang="en-IN" sz="1200"/>
                        <a:t>Room_ID – PK, Patient_ID – FK</a:t>
                      </a:r>
                    </a:p>
                  </a:txBody>
                  <a:tcPr marL="59615" marR="59615" marT="29807" marB="29807" anchor="ctr"/>
                </a:tc>
                <a:extLst>
                  <a:ext uri="{0D108BD9-81ED-4DB2-BD59-A6C34878D82A}">
                    <a16:rowId xmlns:a16="http://schemas.microsoft.com/office/drawing/2014/main" val="2981989206"/>
                  </a:ext>
                </a:extLst>
              </a:tr>
              <a:tr h="431197">
                <a:tc>
                  <a:txBody>
                    <a:bodyPr/>
                    <a:lstStyle/>
                    <a:p>
                      <a:pPr>
                        <a:buNone/>
                      </a:pPr>
                      <a:r>
                        <a:rPr lang="en-IN" sz="1200" b="1"/>
                        <a:t>Medicine</a:t>
                      </a:r>
                      <a:endParaRPr lang="en-IN" sz="1200"/>
                    </a:p>
                  </a:txBody>
                  <a:tcPr marL="59615" marR="59615" marT="29807" marB="29807" anchor="ctr"/>
                </a:tc>
                <a:tc>
                  <a:txBody>
                    <a:bodyPr/>
                    <a:lstStyle/>
                    <a:p>
                      <a:pPr>
                        <a:buNone/>
                      </a:pPr>
                      <a:r>
                        <a:rPr lang="en-IN" sz="1200"/>
                        <a:t>Medicine_ID, Medicine_Name, Quantity, Price, Expiry_Date</a:t>
                      </a:r>
                    </a:p>
                  </a:txBody>
                  <a:tcPr marL="59615" marR="59615" marT="29807" marB="29807" anchor="ctr"/>
                </a:tc>
                <a:tc>
                  <a:txBody>
                    <a:bodyPr/>
                    <a:lstStyle/>
                    <a:p>
                      <a:pPr>
                        <a:buNone/>
                      </a:pPr>
                      <a:r>
                        <a:rPr lang="en-IN" sz="1200"/>
                        <a:t>Medicine_ID – PK</a:t>
                      </a:r>
                    </a:p>
                  </a:txBody>
                  <a:tcPr marL="59615" marR="59615" marT="29807" marB="29807" anchor="ctr"/>
                </a:tc>
                <a:extLst>
                  <a:ext uri="{0D108BD9-81ED-4DB2-BD59-A6C34878D82A}">
                    <a16:rowId xmlns:a16="http://schemas.microsoft.com/office/drawing/2014/main" val="2308541529"/>
                  </a:ext>
                </a:extLst>
              </a:tr>
              <a:tr h="616579">
                <a:tc>
                  <a:txBody>
                    <a:bodyPr/>
                    <a:lstStyle/>
                    <a:p>
                      <a:pPr>
                        <a:buNone/>
                      </a:pPr>
                      <a:r>
                        <a:rPr lang="en-IN" sz="1200" b="1"/>
                        <a:t>Medical_Record</a:t>
                      </a:r>
                      <a:endParaRPr lang="en-IN" sz="1200"/>
                    </a:p>
                  </a:txBody>
                  <a:tcPr marL="59615" marR="59615" marT="29807" marB="29807" anchor="ctr"/>
                </a:tc>
                <a:tc>
                  <a:txBody>
                    <a:bodyPr/>
                    <a:lstStyle/>
                    <a:p>
                      <a:pPr>
                        <a:buNone/>
                      </a:pPr>
                      <a:r>
                        <a:rPr lang="en-IN" sz="1200"/>
                        <a:t>Record_ID, Patient_ID, Doctor_ID, Diagnosis, Treatment, Record_Date</a:t>
                      </a:r>
                    </a:p>
                  </a:txBody>
                  <a:tcPr marL="59615" marR="59615" marT="29807" marB="29807" anchor="ctr"/>
                </a:tc>
                <a:tc>
                  <a:txBody>
                    <a:bodyPr/>
                    <a:lstStyle/>
                    <a:p>
                      <a:pPr>
                        <a:buNone/>
                      </a:pPr>
                      <a:r>
                        <a:rPr lang="en-IN" sz="1200"/>
                        <a:t>Record_ID – PK, Patient_ID – FK, Doctor_ID – FK</a:t>
                      </a:r>
                    </a:p>
                  </a:txBody>
                  <a:tcPr marL="59615" marR="59615" marT="29807" marB="29807" anchor="ctr"/>
                </a:tc>
                <a:extLst>
                  <a:ext uri="{0D108BD9-81ED-4DB2-BD59-A6C34878D82A}">
                    <a16:rowId xmlns:a16="http://schemas.microsoft.com/office/drawing/2014/main" val="430927024"/>
                  </a:ext>
                </a:extLst>
              </a:tr>
              <a:tr h="616579">
                <a:tc>
                  <a:txBody>
                    <a:bodyPr/>
                    <a:lstStyle/>
                    <a:p>
                      <a:pPr>
                        <a:buNone/>
                      </a:pPr>
                      <a:r>
                        <a:rPr lang="en-IN" sz="1200" b="1"/>
                        <a:t>Billing</a:t>
                      </a:r>
                      <a:endParaRPr lang="en-IN" sz="1200"/>
                    </a:p>
                  </a:txBody>
                  <a:tcPr marL="59615" marR="59615" marT="29807" marB="29807" anchor="ctr"/>
                </a:tc>
                <a:tc>
                  <a:txBody>
                    <a:bodyPr/>
                    <a:lstStyle/>
                    <a:p>
                      <a:pPr>
                        <a:buNone/>
                      </a:pPr>
                      <a:r>
                        <a:rPr lang="en-IN" sz="1200"/>
                        <a:t>Bill_ID, Patient_ID, Appointment_ID, Amount, Payment_Date, Payment_Status</a:t>
                      </a:r>
                    </a:p>
                  </a:txBody>
                  <a:tcPr marL="59615" marR="59615" marT="29807" marB="29807" anchor="ctr"/>
                </a:tc>
                <a:tc>
                  <a:txBody>
                    <a:bodyPr/>
                    <a:lstStyle/>
                    <a:p>
                      <a:pPr>
                        <a:buNone/>
                      </a:pPr>
                      <a:r>
                        <a:rPr lang="en-IN" sz="1200" dirty="0" err="1"/>
                        <a:t>Bill_ID</a:t>
                      </a:r>
                      <a:r>
                        <a:rPr lang="en-IN" sz="1200" dirty="0"/>
                        <a:t> – PK, </a:t>
                      </a:r>
                      <a:r>
                        <a:rPr lang="en-IN" sz="1200" dirty="0" err="1"/>
                        <a:t>Patient_ID</a:t>
                      </a:r>
                      <a:r>
                        <a:rPr lang="en-IN" sz="1200" dirty="0"/>
                        <a:t> – FK, </a:t>
                      </a:r>
                      <a:r>
                        <a:rPr lang="en-IN" sz="1200" dirty="0" err="1"/>
                        <a:t>Appointment_ID</a:t>
                      </a:r>
                      <a:r>
                        <a:rPr lang="en-IN" sz="1200" dirty="0"/>
                        <a:t> – FK</a:t>
                      </a:r>
                    </a:p>
                  </a:txBody>
                  <a:tcPr marL="59615" marR="59615" marT="29807" marB="29807" anchor="ctr"/>
                </a:tc>
                <a:extLst>
                  <a:ext uri="{0D108BD9-81ED-4DB2-BD59-A6C34878D82A}">
                    <a16:rowId xmlns:a16="http://schemas.microsoft.com/office/drawing/2014/main" val="1390037522"/>
                  </a:ext>
                </a:extLst>
              </a:tr>
            </a:tbl>
          </a:graphicData>
        </a:graphic>
      </p:graphicFrame>
      <p:sp>
        <p:nvSpPr>
          <p:cNvPr id="19" name="TextBox 18">
            <a:extLst>
              <a:ext uri="{FF2B5EF4-FFF2-40B4-BE49-F238E27FC236}">
                <a16:creationId xmlns:a16="http://schemas.microsoft.com/office/drawing/2014/main" id="{8CD24266-7D73-190F-27AC-68C376AC21DF}"/>
              </a:ext>
            </a:extLst>
          </p:cNvPr>
          <p:cNvSpPr txBox="1"/>
          <p:nvPr/>
        </p:nvSpPr>
        <p:spPr>
          <a:xfrm>
            <a:off x="1600199" y="619760"/>
            <a:ext cx="8940800" cy="584775"/>
          </a:xfrm>
          <a:prstGeom prst="rect">
            <a:avLst/>
          </a:prstGeom>
          <a:noFill/>
        </p:spPr>
        <p:txBody>
          <a:bodyPr wrap="square" rtlCol="0">
            <a:spAutoFit/>
          </a:bodyPr>
          <a:lstStyle/>
          <a:p>
            <a:pPr marL="457200" algn="ctr"/>
            <a:r>
              <a:rPr lang="en-US" sz="3200" dirty="0">
                <a:solidFill>
                  <a:srgbClr val="FF0000"/>
                </a:solidFill>
                <a:latin typeface="Maiandra GD" panose="020E0502030308020204" pitchFamily="34" charset="0"/>
                <a:ea typeface="Calibri"/>
                <a:cs typeface="Times New Roman" panose="02020603050405020304" pitchFamily="18" charset="0"/>
              </a:rPr>
              <a:t>Database Schema – Tables &amp; Attributes</a:t>
            </a:r>
          </a:p>
        </p:txBody>
      </p:sp>
    </p:spTree>
    <p:extLst>
      <p:ext uri="{BB962C8B-B14F-4D97-AF65-F5344CB8AC3E}">
        <p14:creationId xmlns:p14="http://schemas.microsoft.com/office/powerpoint/2010/main" val="4267094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5198A5-A779-70C2-7CE9-01B8647E96D1}"/>
              </a:ext>
            </a:extLst>
          </p:cNvPr>
          <p:cNvSpPr txBox="1"/>
          <p:nvPr/>
        </p:nvSpPr>
        <p:spPr>
          <a:xfrm>
            <a:off x="2664543" y="472317"/>
            <a:ext cx="7787148" cy="584775"/>
          </a:xfrm>
          <a:prstGeom prst="rect">
            <a:avLst/>
          </a:prstGeom>
          <a:noFill/>
        </p:spPr>
        <p:txBody>
          <a:bodyPr wrap="square" rtlCol="0">
            <a:spAutoFit/>
          </a:bodyPr>
          <a:lstStyle/>
          <a:p>
            <a:pPr marL="457200"/>
            <a:r>
              <a:rPr lang="en-US" sz="3200" dirty="0">
                <a:solidFill>
                  <a:srgbClr val="FF0000"/>
                </a:solidFill>
                <a:latin typeface="Maiandra GD" panose="020E0502030308020204" pitchFamily="34" charset="0"/>
                <a:ea typeface="Calibri"/>
                <a:cs typeface="Times New Roman" panose="02020603050405020304" pitchFamily="18" charset="0"/>
              </a:rPr>
              <a:t>ER-Diagram-Entities &amp; Relationships</a:t>
            </a:r>
          </a:p>
        </p:txBody>
      </p:sp>
      <p:sp>
        <p:nvSpPr>
          <p:cNvPr id="10" name="Content Placeholder 9">
            <a:extLst>
              <a:ext uri="{FF2B5EF4-FFF2-40B4-BE49-F238E27FC236}">
                <a16:creationId xmlns:a16="http://schemas.microsoft.com/office/drawing/2014/main" id="{3350F192-C679-12D9-70EE-487FD75AE681}"/>
              </a:ext>
            </a:extLst>
          </p:cNvPr>
          <p:cNvSpPr>
            <a:spLocks noGrp="1"/>
          </p:cNvSpPr>
          <p:nvPr>
            <p:ph/>
          </p:nvPr>
        </p:nvSpPr>
        <p:spPr>
          <a:xfrm>
            <a:off x="838200" y="1384895"/>
            <a:ext cx="10515600" cy="4531419"/>
          </a:xfrm>
        </p:spPr>
        <p:txBody>
          <a:bodyPr>
            <a:normAutofit fontScale="85000" lnSpcReduction="20000"/>
          </a:bodyPr>
          <a:lstStyle/>
          <a:p>
            <a:pPr lvl="0">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Entities</a:t>
            </a:r>
            <a:r>
              <a:rPr lang="en-IN" dirty="0">
                <a:latin typeface="Times New Roman" panose="02020603050405020304" pitchFamily="18" charset="0"/>
                <a:cs typeface="Times New Roman" panose="02020603050405020304" pitchFamily="18" charset="0"/>
              </a:rPr>
              <a:t>: Patient, Doctor, Department, Appointment, Billing, Nurse, Room, Medicine, and Medical Record.</a:t>
            </a:r>
          </a:p>
          <a:p>
            <a:pPr lvl="0">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Relationships</a:t>
            </a:r>
            <a:r>
              <a:rPr lang="en-IN" dirty="0">
                <a:latin typeface="Times New Roman" panose="02020603050405020304" pitchFamily="18" charset="0"/>
                <a:cs typeface="Times New Roman" panose="02020603050405020304" pitchFamily="18" charset="0"/>
              </a:rPr>
              <a:t>:</a:t>
            </a:r>
          </a:p>
          <a:p>
            <a:pPr lvl="1">
              <a:lnSpc>
                <a:spcPct val="150000"/>
              </a:lnSpc>
            </a:pPr>
            <a:r>
              <a:rPr lang="en-IN" dirty="0">
                <a:latin typeface="Times New Roman" panose="02020603050405020304" pitchFamily="18" charset="0"/>
                <a:cs typeface="Times New Roman" panose="02020603050405020304" pitchFamily="18" charset="0"/>
              </a:rPr>
              <a:t>• A Patient books many Appointments.</a:t>
            </a:r>
          </a:p>
          <a:p>
            <a:pPr lvl="1">
              <a:lnSpc>
                <a:spcPct val="150000"/>
              </a:lnSpc>
            </a:pPr>
            <a:r>
              <a:rPr lang="en-IN" dirty="0">
                <a:latin typeface="Times New Roman" panose="02020603050405020304" pitchFamily="18" charset="0"/>
                <a:cs typeface="Times New Roman" panose="02020603050405020304" pitchFamily="18" charset="0"/>
              </a:rPr>
              <a:t>• A Doctor handles many Appointments.</a:t>
            </a:r>
          </a:p>
          <a:p>
            <a:pPr lvl="1">
              <a:lnSpc>
                <a:spcPct val="150000"/>
              </a:lnSpc>
            </a:pPr>
            <a:r>
              <a:rPr lang="en-IN" dirty="0">
                <a:latin typeface="Times New Roman" panose="02020603050405020304" pitchFamily="18" charset="0"/>
                <a:cs typeface="Times New Roman" panose="02020603050405020304" pitchFamily="18" charset="0"/>
              </a:rPr>
              <a:t>• A Department has many Doctors.</a:t>
            </a:r>
          </a:p>
          <a:p>
            <a:pPr lvl="1">
              <a:lnSpc>
                <a:spcPct val="150000"/>
              </a:lnSpc>
            </a:pPr>
            <a:r>
              <a:rPr lang="en-IN" dirty="0">
                <a:latin typeface="Times New Roman" panose="02020603050405020304" pitchFamily="18" charset="0"/>
                <a:cs typeface="Times New Roman" panose="02020603050405020304" pitchFamily="18" charset="0"/>
              </a:rPr>
              <a:t>• A Patient has many Medical Records.</a:t>
            </a:r>
          </a:p>
          <a:p>
            <a:pPr lvl="1">
              <a:lnSpc>
                <a:spcPct val="150000"/>
              </a:lnSpc>
            </a:pPr>
            <a:r>
              <a:rPr lang="en-IN" dirty="0">
                <a:latin typeface="Times New Roman" panose="02020603050405020304" pitchFamily="18" charset="0"/>
                <a:cs typeface="Times New Roman" panose="02020603050405020304" pitchFamily="18" charset="0"/>
              </a:rPr>
              <a:t>• A Patient makes Payments through Billing.</a:t>
            </a:r>
          </a:p>
          <a:p>
            <a:pPr lvl="1">
              <a:lnSpc>
                <a:spcPct val="150000"/>
              </a:lnSpc>
            </a:pPr>
            <a:r>
              <a:rPr lang="en-IN" dirty="0">
                <a:latin typeface="Times New Roman" panose="02020603050405020304" pitchFamily="18" charset="0"/>
                <a:cs typeface="Times New Roman" panose="02020603050405020304" pitchFamily="18" charset="0"/>
              </a:rPr>
              <a:t>• A Doctor prescribes Medicines.</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7075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AD31B3DC-787E-579C-2F9C-7E6935129BAE}"/>
              </a:ext>
            </a:extLst>
          </p:cNvPr>
          <p:cNvPicPr>
            <a:picLocks noGrp="1" noChangeAspect="1"/>
          </p:cNvPicPr>
          <p:nvPr>
            <p:ph/>
          </p:nvPr>
        </p:nvPicPr>
        <p:blipFill>
          <a:blip r:embed="rId2"/>
          <a:stretch>
            <a:fillRect/>
          </a:stretch>
        </p:blipFill>
        <p:spPr>
          <a:xfrm>
            <a:off x="211146" y="1165991"/>
            <a:ext cx="11980853" cy="5595428"/>
          </a:xfrm>
          <a:prstGeom prst="rect">
            <a:avLst/>
          </a:prstGeom>
        </p:spPr>
      </p:pic>
    </p:spTree>
    <p:extLst>
      <p:ext uri="{BB962C8B-B14F-4D97-AF65-F5344CB8AC3E}">
        <p14:creationId xmlns:p14="http://schemas.microsoft.com/office/powerpoint/2010/main" val="2388606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20F05B-CBF7-6E10-173C-3FD077F44346}"/>
              </a:ext>
            </a:extLst>
          </p:cNvPr>
          <p:cNvSpPr>
            <a:spLocks noGrp="1"/>
          </p:cNvSpPr>
          <p:nvPr>
            <p:ph/>
          </p:nvPr>
        </p:nvSpPr>
        <p:spPr>
          <a:xfrm>
            <a:off x="898582" y="1237412"/>
            <a:ext cx="11204928" cy="4671776"/>
          </a:xfrm>
        </p:spPr>
        <p:txBody>
          <a:bodyPr>
            <a:normAutofit fontScale="77500" lnSpcReduction="20000"/>
          </a:bodyPr>
          <a:lstStyle/>
          <a:p>
            <a:pPr lvl="0">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Patient Module</a:t>
            </a:r>
            <a:r>
              <a:rPr lang="en-IN" dirty="0">
                <a:latin typeface="Times New Roman" panose="02020603050405020304" pitchFamily="18" charset="0"/>
                <a:cs typeface="Times New Roman" panose="02020603050405020304" pitchFamily="18" charset="0"/>
              </a:rPr>
              <a:t> – Register and manage patient details. </a:t>
            </a:r>
          </a:p>
          <a:p>
            <a:pPr lvl="0">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Doctor Module</a:t>
            </a:r>
            <a:r>
              <a:rPr lang="en-IN" dirty="0">
                <a:latin typeface="Times New Roman" panose="02020603050405020304" pitchFamily="18" charset="0"/>
                <a:cs typeface="Times New Roman" panose="02020603050405020304" pitchFamily="18" charset="0"/>
              </a:rPr>
              <a:t> – Store doctor information and specialization. </a:t>
            </a:r>
          </a:p>
          <a:p>
            <a:pPr lvl="0">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Appointment Module</a:t>
            </a:r>
            <a:r>
              <a:rPr lang="en-IN" dirty="0">
                <a:latin typeface="Times New Roman" panose="02020603050405020304" pitchFamily="18" charset="0"/>
                <a:cs typeface="Times New Roman" panose="02020603050405020304" pitchFamily="18" charset="0"/>
              </a:rPr>
              <a:t> – Schedule and manage appointments. </a:t>
            </a:r>
          </a:p>
          <a:p>
            <a:pPr lvl="0">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Medical Records Module</a:t>
            </a:r>
            <a:r>
              <a:rPr lang="en-IN" dirty="0">
                <a:latin typeface="Times New Roman" panose="02020603050405020304" pitchFamily="18" charset="0"/>
                <a:cs typeface="Times New Roman" panose="02020603050405020304" pitchFamily="18" charset="0"/>
              </a:rPr>
              <a:t> – Maintain patient diagnosis and         </a:t>
            </a:r>
          </a:p>
          <a:p>
            <a:pPr lvl="0">
              <a:lnSpc>
                <a:spcPct val="150000"/>
              </a:lnSpc>
            </a:pPr>
            <a:r>
              <a:rPr lang="en-IN" dirty="0">
                <a:latin typeface="Times New Roman" panose="02020603050405020304" pitchFamily="18" charset="0"/>
                <a:cs typeface="Times New Roman" panose="02020603050405020304" pitchFamily="18" charset="0"/>
              </a:rPr>
              <a:t>  treatment details. </a:t>
            </a:r>
          </a:p>
          <a:p>
            <a:pPr lvl="0">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Billing Module</a:t>
            </a:r>
            <a:r>
              <a:rPr lang="en-IN" dirty="0">
                <a:latin typeface="Times New Roman" panose="02020603050405020304" pitchFamily="18" charset="0"/>
                <a:cs typeface="Times New Roman" panose="02020603050405020304" pitchFamily="18" charset="0"/>
              </a:rPr>
              <a:t> – Generate and manage patient bills. </a:t>
            </a:r>
          </a:p>
          <a:p>
            <a:pPr lvl="0">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Medicine Module</a:t>
            </a:r>
            <a:r>
              <a:rPr lang="en-IN" dirty="0">
                <a:latin typeface="Times New Roman" panose="02020603050405020304" pitchFamily="18" charset="0"/>
                <a:cs typeface="Times New Roman" panose="02020603050405020304" pitchFamily="18" charset="0"/>
              </a:rPr>
              <a:t> – Manage medicine details and availability. </a:t>
            </a:r>
          </a:p>
          <a:p>
            <a:pPr lvl="0">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Admin Module</a:t>
            </a:r>
            <a:r>
              <a:rPr lang="en-IN" dirty="0">
                <a:latin typeface="Times New Roman" panose="02020603050405020304" pitchFamily="18" charset="0"/>
                <a:cs typeface="Times New Roman" panose="02020603050405020304" pitchFamily="18" charset="0"/>
              </a:rPr>
              <a:t> – Manage users and overall hospital operations.</a:t>
            </a:r>
          </a:p>
          <a:p>
            <a:pPr>
              <a:lnSpc>
                <a:spcPct val="150000"/>
              </a:lnSpc>
            </a:pP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E39E23F-BE71-507E-5A2F-0F78ECF878D9}"/>
              </a:ext>
            </a:extLst>
          </p:cNvPr>
          <p:cNvSpPr txBox="1"/>
          <p:nvPr/>
        </p:nvSpPr>
        <p:spPr>
          <a:xfrm>
            <a:off x="2812027" y="364037"/>
            <a:ext cx="6813754" cy="584775"/>
          </a:xfrm>
          <a:prstGeom prst="rect">
            <a:avLst/>
          </a:prstGeom>
          <a:noFill/>
        </p:spPr>
        <p:txBody>
          <a:bodyPr wrap="square" rtlCol="0">
            <a:spAutoFit/>
          </a:bodyPr>
          <a:lstStyle/>
          <a:p>
            <a:pPr marL="457200" algn="ctr"/>
            <a:r>
              <a:rPr lang="en-US" sz="3200" dirty="0">
                <a:solidFill>
                  <a:srgbClr val="FF0000"/>
                </a:solidFill>
                <a:latin typeface="Maiandra GD" panose="020E0502030308020204" pitchFamily="34" charset="0"/>
                <a:ea typeface="Calibri"/>
                <a:cs typeface="Times New Roman" panose="02020603050405020304" pitchFamily="18" charset="0"/>
              </a:rPr>
              <a:t>Modules &amp; Functionalities</a:t>
            </a:r>
          </a:p>
        </p:txBody>
      </p:sp>
    </p:spTree>
    <p:extLst>
      <p:ext uri="{BB962C8B-B14F-4D97-AF65-F5344CB8AC3E}">
        <p14:creationId xmlns:p14="http://schemas.microsoft.com/office/powerpoint/2010/main" val="4236241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8DC9B7-C6BC-BC7F-9E51-11C932798409}"/>
              </a:ext>
            </a:extLst>
          </p:cNvPr>
          <p:cNvSpPr>
            <a:spLocks noGrp="1"/>
          </p:cNvSpPr>
          <p:nvPr>
            <p:ph/>
          </p:nvPr>
        </p:nvSpPr>
        <p:spPr>
          <a:xfrm>
            <a:off x="642943" y="1355399"/>
            <a:ext cx="10515600" cy="4531419"/>
          </a:xfrm>
        </p:spPr>
        <p:txBody>
          <a:bodyPr>
            <a:noAutofit/>
          </a:bodyPr>
          <a:lstStyle/>
          <a:p>
            <a:pPr lvl="0">
              <a:lnSpc>
                <a:spcPct val="16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CREATE</a:t>
            </a:r>
            <a:r>
              <a:rPr lang="en-IN" sz="1800" dirty="0">
                <a:latin typeface="Times New Roman" panose="02020603050405020304" pitchFamily="18" charset="0"/>
                <a:cs typeface="Times New Roman" panose="02020603050405020304" pitchFamily="18" charset="0"/>
              </a:rPr>
              <a:t> – Creates tables and databases. </a:t>
            </a:r>
          </a:p>
          <a:p>
            <a:pPr lvl="0">
              <a:lnSpc>
                <a:spcPct val="16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INSERT</a:t>
            </a:r>
            <a:r>
              <a:rPr lang="en-IN" sz="1800" dirty="0">
                <a:latin typeface="Times New Roman" panose="02020603050405020304" pitchFamily="18" charset="0"/>
                <a:cs typeface="Times New Roman" panose="02020603050405020304" pitchFamily="18" charset="0"/>
              </a:rPr>
              <a:t> – Adds new patient, doctor, or appointment records. </a:t>
            </a:r>
          </a:p>
          <a:p>
            <a:pPr lvl="0">
              <a:lnSpc>
                <a:spcPct val="16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SELECT</a:t>
            </a:r>
            <a:r>
              <a:rPr lang="en-IN" sz="1800" dirty="0">
                <a:latin typeface="Times New Roman" panose="02020603050405020304" pitchFamily="18" charset="0"/>
                <a:cs typeface="Times New Roman" panose="02020603050405020304" pitchFamily="18" charset="0"/>
              </a:rPr>
              <a:t> – Retrieves stored information. </a:t>
            </a:r>
          </a:p>
          <a:p>
            <a:pPr lvl="0">
              <a:lnSpc>
                <a:spcPct val="16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UPDATE</a:t>
            </a:r>
            <a:r>
              <a:rPr lang="en-IN" sz="1800" dirty="0">
                <a:latin typeface="Times New Roman" panose="02020603050405020304" pitchFamily="18" charset="0"/>
                <a:cs typeface="Times New Roman" panose="02020603050405020304" pitchFamily="18" charset="0"/>
              </a:rPr>
              <a:t> – Modifies existing records. </a:t>
            </a:r>
          </a:p>
          <a:p>
            <a:pPr lvl="0">
              <a:lnSpc>
                <a:spcPct val="16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DELETE</a:t>
            </a:r>
            <a:r>
              <a:rPr lang="en-IN" sz="1800" dirty="0">
                <a:latin typeface="Times New Roman" panose="02020603050405020304" pitchFamily="18" charset="0"/>
                <a:cs typeface="Times New Roman" panose="02020603050405020304" pitchFamily="18" charset="0"/>
              </a:rPr>
              <a:t> – Removes unwanted records. </a:t>
            </a:r>
          </a:p>
          <a:p>
            <a:pPr lvl="0">
              <a:lnSpc>
                <a:spcPct val="16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WHERE</a:t>
            </a:r>
            <a:r>
              <a:rPr lang="en-IN" sz="1800" dirty="0">
                <a:latin typeface="Times New Roman" panose="02020603050405020304" pitchFamily="18" charset="0"/>
                <a:cs typeface="Times New Roman" panose="02020603050405020304" pitchFamily="18" charset="0"/>
              </a:rPr>
              <a:t> – Filters specific records. </a:t>
            </a:r>
          </a:p>
          <a:p>
            <a:pPr lvl="0">
              <a:lnSpc>
                <a:spcPct val="16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ORDER BY</a:t>
            </a:r>
            <a:r>
              <a:rPr lang="en-IN" sz="1800" dirty="0">
                <a:latin typeface="Times New Roman" panose="02020603050405020304" pitchFamily="18" charset="0"/>
                <a:cs typeface="Times New Roman" panose="02020603050405020304" pitchFamily="18" charset="0"/>
              </a:rPr>
              <a:t> – Sorts records. </a:t>
            </a:r>
          </a:p>
          <a:p>
            <a:pPr lvl="0">
              <a:lnSpc>
                <a:spcPct val="16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GROUP BY</a:t>
            </a:r>
            <a:r>
              <a:rPr lang="en-IN" sz="1800" dirty="0">
                <a:latin typeface="Times New Roman" panose="02020603050405020304" pitchFamily="18" charset="0"/>
                <a:cs typeface="Times New Roman" panose="02020603050405020304" pitchFamily="18" charset="0"/>
              </a:rPr>
              <a:t> – Groups similar data. </a:t>
            </a:r>
          </a:p>
          <a:p>
            <a:pPr lvl="0">
              <a:lnSpc>
                <a:spcPct val="160000"/>
              </a:lnSpc>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JOIN</a:t>
            </a:r>
            <a:r>
              <a:rPr lang="en-IN" sz="1800" dirty="0">
                <a:latin typeface="Times New Roman" panose="02020603050405020304" pitchFamily="18" charset="0"/>
                <a:cs typeface="Times New Roman" panose="02020603050405020304" pitchFamily="18" charset="0"/>
              </a:rPr>
              <a:t> – Combines data from multiple tables.</a:t>
            </a:r>
          </a:p>
          <a:p>
            <a:pPr>
              <a:lnSpc>
                <a:spcPct val="160000"/>
              </a:lnSpc>
            </a:pPr>
            <a:endParaRPr lang="en-IN" sz="1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4A19B97-22CE-498F-008D-7BE55890710C}"/>
              </a:ext>
            </a:extLst>
          </p:cNvPr>
          <p:cNvSpPr txBox="1"/>
          <p:nvPr/>
        </p:nvSpPr>
        <p:spPr>
          <a:xfrm>
            <a:off x="3283974" y="580103"/>
            <a:ext cx="7374193" cy="584775"/>
          </a:xfrm>
          <a:prstGeom prst="rect">
            <a:avLst/>
          </a:prstGeom>
          <a:noFill/>
        </p:spPr>
        <p:txBody>
          <a:bodyPr wrap="square" rtlCol="0">
            <a:spAutoFit/>
          </a:bodyPr>
          <a:lstStyle/>
          <a:p>
            <a:pPr marL="457200"/>
            <a:r>
              <a:rPr lang="en-US" sz="3200" dirty="0">
                <a:solidFill>
                  <a:srgbClr val="FF0000"/>
                </a:solidFill>
                <a:latin typeface="Maiandra GD" panose="020E0502030308020204" pitchFamily="34" charset="0"/>
                <a:ea typeface="Calibri"/>
                <a:cs typeface="Times New Roman" panose="02020603050405020304" pitchFamily="18" charset="0"/>
              </a:rPr>
              <a:t>SQL Operation  &amp; Queries</a:t>
            </a:r>
          </a:p>
        </p:txBody>
      </p:sp>
    </p:spTree>
    <p:extLst>
      <p:ext uri="{BB962C8B-B14F-4D97-AF65-F5344CB8AC3E}">
        <p14:creationId xmlns:p14="http://schemas.microsoft.com/office/powerpoint/2010/main" val="2850099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8F8635-1052-482B-4885-5A856C01A567}"/>
              </a:ext>
            </a:extLst>
          </p:cNvPr>
          <p:cNvSpPr>
            <a:spLocks noGrp="1"/>
          </p:cNvSpPr>
          <p:nvPr>
            <p:ph/>
          </p:nvPr>
        </p:nvSpPr>
        <p:spPr>
          <a:xfrm>
            <a:off x="737954" y="1946165"/>
            <a:ext cx="10480117" cy="3154072"/>
          </a:xfrm>
        </p:spPr>
        <p:txBody>
          <a:bodyPr>
            <a:normAutofit lnSpcReduction="10000"/>
          </a:bodyPr>
          <a:lstStyle/>
          <a:p>
            <a:pPr>
              <a:lnSpc>
                <a:spcPct val="150000"/>
              </a:lnSpc>
            </a:pPr>
            <a:r>
              <a:rPr lang="en-IN" dirty="0">
                <a:latin typeface="Times New Roman" panose="02020603050405020304" pitchFamily="18" charset="0"/>
                <a:cs typeface="Times New Roman" panose="02020603050405020304" pitchFamily="18" charset="0"/>
              </a:rPr>
              <a:t>the Hospital Management System makes hospital work faster, more organized, and more accurate by reducing manual records and improving coordination. It helps staff manage patients, appointments, billing, and reports efficiently while improving overall service quality</a:t>
            </a:r>
          </a:p>
        </p:txBody>
      </p:sp>
      <p:sp>
        <p:nvSpPr>
          <p:cNvPr id="3" name="TextBox 2">
            <a:extLst>
              <a:ext uri="{FF2B5EF4-FFF2-40B4-BE49-F238E27FC236}">
                <a16:creationId xmlns:a16="http://schemas.microsoft.com/office/drawing/2014/main" id="{16E652EE-F585-CA9F-F9F7-21CECDF61AE2}"/>
              </a:ext>
            </a:extLst>
          </p:cNvPr>
          <p:cNvSpPr txBox="1"/>
          <p:nvPr/>
        </p:nvSpPr>
        <p:spPr>
          <a:xfrm>
            <a:off x="5447072" y="882692"/>
            <a:ext cx="2910348" cy="584775"/>
          </a:xfrm>
          <a:prstGeom prst="rect">
            <a:avLst/>
          </a:prstGeom>
          <a:noFill/>
        </p:spPr>
        <p:txBody>
          <a:bodyPr wrap="square" rtlCol="0">
            <a:spAutoFit/>
          </a:bodyPr>
          <a:lstStyle/>
          <a:p>
            <a:r>
              <a:rPr lang="en-US" sz="3200" dirty="0">
                <a:solidFill>
                  <a:srgbClr val="FF0000"/>
                </a:solidFill>
                <a:latin typeface="Maiandra GD" panose="020E0502030308020204" pitchFamily="34" charset="0"/>
                <a:ea typeface="Calibri"/>
                <a:cs typeface="Times New Roman" panose="02020603050405020304" pitchFamily="18" charset="0"/>
              </a:rPr>
              <a:t>Conclusion</a:t>
            </a:r>
            <a:endParaRPr lang="en-IN" sz="3200" dirty="0">
              <a:solidFill>
                <a:srgbClr val="FF0000"/>
              </a:solidFill>
              <a:latin typeface="Maiandra GD" panose="020E0502030308020204" pitchFamily="34" charset="0"/>
            </a:endParaRPr>
          </a:p>
        </p:txBody>
      </p:sp>
    </p:spTree>
    <p:extLst>
      <p:ext uri="{BB962C8B-B14F-4D97-AF65-F5344CB8AC3E}">
        <p14:creationId xmlns:p14="http://schemas.microsoft.com/office/powerpoint/2010/main" val="3463073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31207B-310E-F8DA-D086-4E554CD990A4}"/>
              </a:ext>
            </a:extLst>
          </p:cNvPr>
          <p:cNvSpPr>
            <a:spLocks noGrp="1"/>
          </p:cNvSpPr>
          <p:nvPr>
            <p:ph/>
          </p:nvPr>
        </p:nvSpPr>
        <p:spPr>
          <a:xfrm>
            <a:off x="3497179" y="2845245"/>
            <a:ext cx="7534580" cy="812356"/>
          </a:xfrm>
        </p:spPr>
        <p:txBody>
          <a:bodyPr>
            <a:noAutofit/>
          </a:bodyPr>
          <a:lstStyle/>
          <a:p>
            <a:r>
              <a:rPr lang="en-US" sz="6600" b="1" spc="-50" dirty="0">
                <a:solidFill>
                  <a:srgbClr val="0070C0"/>
                </a:solidFill>
                <a:latin typeface="Maiandra GD" panose="020E0502030308020204" pitchFamily="34" charset="0"/>
              </a:rPr>
              <a:t> Thank You!</a:t>
            </a:r>
            <a:endParaRPr lang="en-IN" sz="6600" dirty="0">
              <a:solidFill>
                <a:srgbClr val="0070C0"/>
              </a:solidFill>
            </a:endParaRPr>
          </a:p>
          <a:p>
            <a:endParaRPr lang="en-IN" sz="6600" dirty="0"/>
          </a:p>
        </p:txBody>
      </p:sp>
    </p:spTree>
    <p:extLst>
      <p:ext uri="{BB962C8B-B14F-4D97-AF65-F5344CB8AC3E}">
        <p14:creationId xmlns:p14="http://schemas.microsoft.com/office/powerpoint/2010/main" val="2405156515"/>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TotalTime>
  <Words>883</Words>
  <Application>Microsoft Office PowerPoint</Application>
  <PresentationFormat>Widescreen</PresentationFormat>
  <Paragraphs>102</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Times New Roman</vt:lpstr>
      <vt:lpstr>Maiandra GD</vt:lpstr>
      <vt:lpstr>Bookman Old Style</vt:lpstr>
      <vt:lpstr>Calibri</vt:lpstr>
      <vt:lpstr>Arial</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uma srinu</dc:creator>
  <cp:lastModifiedBy>uma srinu</cp:lastModifiedBy>
  <cp:revision>87</cp:revision>
  <dcterms:created xsi:type="dcterms:W3CDTF">2025-05-29T13:02:32Z</dcterms:created>
  <dcterms:modified xsi:type="dcterms:W3CDTF">2026-08-16T15:27:25Z</dcterms:modified>
</cp:coreProperties>
</file>