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301" r:id="rId5"/>
    <p:sldId id="321" r:id="rId6"/>
    <p:sldId id="302" r:id="rId7"/>
    <p:sldId id="304" r:id="rId8"/>
    <p:sldId id="305" r:id="rId9"/>
    <p:sldId id="306" r:id="rId10"/>
    <p:sldId id="320" r:id="rId11"/>
    <p:sldId id="308" r:id="rId12"/>
    <p:sldId id="309" r:id="rId13"/>
    <p:sldId id="311" r:id="rId14"/>
    <p:sldId id="312" r:id="rId15"/>
    <p:sldId id="313" r:id="rId16"/>
    <p:sldId id="314" r:id="rId17"/>
    <p:sldId id="315" r:id="rId18"/>
    <p:sldId id="316" r:id="rId19"/>
    <p:sldId id="310" r:id="rId20"/>
    <p:sldId id="322" r:id="rId21"/>
    <p:sldId id="269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74" d="100"/>
          <a:sy n="74" d="100"/>
        </p:scale>
        <p:origin x="1795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0" y="1668584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- 2 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8000" y="5003600"/>
            <a:ext cx="5243683" cy="31431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130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Umasrinu (25B11AI891)</a:t>
            </a:r>
          </a:p>
          <a:p>
            <a:pPr algn="just">
              <a:lnSpc>
                <a:spcPct val="15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Udayakiran (25B11AI880)</a:t>
            </a:r>
          </a:p>
          <a:p>
            <a:pPr algn="just">
              <a:lnSpc>
                <a:spcPct val="15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Madhavan (25B11AI873)  </a:t>
            </a:r>
          </a:p>
          <a:p>
            <a:pPr algn="just">
              <a:lnSpc>
                <a:spcPct val="15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Sudeep (25B11AI941)</a:t>
            </a:r>
          </a:p>
          <a:p>
            <a:pPr marL="3810" algn="just">
              <a:lnSpc>
                <a:spcPct val="100000"/>
              </a:lnSpc>
              <a:spcBef>
                <a:spcPts val="750"/>
              </a:spcBef>
            </a:pPr>
            <a:endParaRPr lang="en-IN"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AA8DE-6366-439B-0E19-C09D4E8D80F0}"/>
              </a:ext>
            </a:extLst>
          </p:cNvPr>
          <p:cNvSpPr txBox="1"/>
          <p:nvPr/>
        </p:nvSpPr>
        <p:spPr>
          <a:xfrm>
            <a:off x="571499" y="3573781"/>
            <a:ext cx="9372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B97C9-2D59-3980-AEF8-F05A2C2A4D65}"/>
              </a:ext>
            </a:extLst>
          </p:cNvPr>
          <p:cNvSpPr txBox="1"/>
          <p:nvPr/>
        </p:nvSpPr>
        <p:spPr>
          <a:xfrm>
            <a:off x="-914400" y="6575184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US" sz="20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0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Artificial Intelligence &amp; Machine Learning</a:t>
            </a:r>
            <a:endParaRPr lang="en-US" sz="20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7B366-42A1-42D2-0E52-3036C47B6FA7}"/>
              </a:ext>
            </a:extLst>
          </p:cNvPr>
          <p:cNvSpPr txBox="1"/>
          <p:nvPr/>
        </p:nvSpPr>
        <p:spPr>
          <a:xfrm>
            <a:off x="200723" y="5681269"/>
            <a:ext cx="533399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dirty="0">
                <a:solidFill>
                  <a:srgbClr val="17375E"/>
                </a:solidFill>
                <a:latin typeface="Times New Roman"/>
                <a:cs typeface="Times New Roman"/>
              </a:rPr>
              <a:t>Guided by : Mrs. G. L. </a:t>
            </a:r>
            <a:r>
              <a:rPr lang="en-IN" sz="2000" dirty="0" err="1">
                <a:solidFill>
                  <a:srgbClr val="17375E"/>
                </a:solidFill>
                <a:latin typeface="Times New Roman"/>
                <a:cs typeface="Times New Roman"/>
              </a:rPr>
              <a:t>Narasamba</a:t>
            </a:r>
            <a:endParaRPr lang="en-IN" sz="2000" dirty="0">
              <a:solidFill>
                <a:srgbClr val="17375E"/>
              </a:solidFill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r>
              <a:rPr lang="en-IN" sz="2000" dirty="0">
                <a:solidFill>
                  <a:srgbClr val="17375E"/>
                </a:solidFill>
                <a:latin typeface="Times New Roman"/>
                <a:cs typeface="Times New Roman"/>
              </a:rPr>
              <a:t>Co-Guided by : Dr. P. V. V. S. D. </a:t>
            </a:r>
            <a:r>
              <a:rPr lang="en-IN" sz="2000" dirty="0" err="1">
                <a:solidFill>
                  <a:srgbClr val="17375E"/>
                </a:solidFill>
                <a:latin typeface="Times New Roman"/>
                <a:cs typeface="Times New Roman"/>
              </a:rPr>
              <a:t>Nagendrudu</a:t>
            </a:r>
            <a:endParaRPr lang="en-IN" sz="2000" dirty="0">
              <a:solidFill>
                <a:srgbClr val="17375E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655785"/>
            <a:ext cx="4100000" cy="66723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Definition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&amp; Relationships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(1NF – 3NF)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&amp; Foreign Keys</a:t>
            </a:r>
          </a:p>
          <a:p>
            <a:pPr marL="469900" indent="-457200"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Repository &amp; Team</a:t>
            </a:r>
          </a:p>
          <a:p>
            <a:pPr marL="469900" indent="-457200"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+mj-lt"/>
              <a:buAutoNum type="arabicPeriod"/>
              <a:tabLst>
                <a:tab pos="389890" algn="l"/>
              </a:tabLs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17014" y="1905000"/>
            <a:ext cx="4560385" cy="263277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Sample Data Insertion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DDL, DML &amp; DQL Operations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CRUD, Joins &amp; Aggregate Functions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Views, Integrity &amp; Validation</a:t>
            </a:r>
          </a:p>
          <a:p>
            <a:pPr marL="12700"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Documentation, Demo &amp; 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9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A979E7-EBDD-6946-A365-C0676272150F}"/>
              </a:ext>
            </a:extLst>
          </p:cNvPr>
          <p:cNvSpPr txBox="1"/>
          <p:nvPr/>
        </p:nvSpPr>
        <p:spPr>
          <a:xfrm>
            <a:off x="609600" y="2329338"/>
            <a:ext cx="9143999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DBMS project used to store and manage hospital information digitally. It keeps details of patients, doctors, appointments, medicines, rooms, and bills in one database.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paperwork, saves time, avoids duplicate records, and helps hospital staff find information quickly and accurately.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735766" y="343763"/>
            <a:ext cx="5103904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B87EC8-6482-09E7-1C8B-D4E149912431}"/>
              </a:ext>
            </a:extLst>
          </p:cNvPr>
          <p:cNvSpPr txBox="1"/>
          <p:nvPr/>
        </p:nvSpPr>
        <p:spPr>
          <a:xfrm>
            <a:off x="257296" y="1905000"/>
            <a:ext cx="9677400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 (HMS)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system designed to manage the daily activities of a hospital efficiently. It helps maintain patient records, doctor details, appointments, medicines, billing, and other hospital information in a centralized system. It reduces paperwork, saves time, and improves the accuracy of hospital operations.</a:t>
            </a:r>
          </a:p>
          <a:p>
            <a:pPr algn="just">
              <a:lnSpc>
                <a:spcPct val="2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A07A-452D-8ECD-699B-F4625E61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0D38-2C25-6D34-8D07-6630433F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1020025"/>
            <a:ext cx="2528570" cy="1092607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b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0F2EA-2F09-7338-F281-F977372B1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750" y="1905001"/>
            <a:ext cx="9310450" cy="3607719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hospital activities manually can be difficult and time-consuming. Patient records may be lost or duplicated, appointments can be difficult to manage, and billing and medical information may contain errors. Therefore, a Hospital Management System is needed to organize and manage patient, doctor, appointment, treatment, and billing information efficiently.</a:t>
            </a:r>
          </a:p>
          <a:p>
            <a:pPr>
              <a:lnSpc>
                <a:spcPct val="200000"/>
              </a:lnSpc>
            </a:pPr>
            <a:endParaRPr lang="en-IN" sz="2000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358D7212-3861-F6BA-8695-5663DBFFC0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8A71F1EA-6C1C-A824-A82E-43275C3ABAF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C5C873BA-1128-B77B-E93A-84906A7544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06D4E34A-E9EC-6280-1AE4-5C7ED7A72DD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98D4C2DB-4977-B562-EF79-3646550C7E8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511D2E84-7061-85D0-7D2C-DF908AA510E1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4424BA0-8B6E-5E87-036B-C97F9E876313}"/>
              </a:ext>
            </a:extLst>
          </p:cNvPr>
          <p:cNvSpPr txBox="1"/>
          <p:nvPr/>
        </p:nvSpPr>
        <p:spPr>
          <a:xfrm>
            <a:off x="3352800" y="369319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53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2" name="TextBox 202"/>
          <p:cNvSpPr txBox="1"/>
          <p:nvPr/>
        </p:nvSpPr>
        <p:spPr>
          <a:xfrm>
            <a:off x="678640" y="1520000"/>
            <a:ext cx="2593706" cy="16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220" dirty="0">
              <a:solidFill>
                <a:srgbClr val="4A4A4A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795F38-A5AD-0020-C194-9CA059579A84}"/>
              </a:ext>
            </a:extLst>
          </p:cNvPr>
          <p:cNvSpPr txBox="1"/>
          <p:nvPr/>
        </p:nvSpPr>
        <p:spPr>
          <a:xfrm>
            <a:off x="678640" y="1593350"/>
            <a:ext cx="8991600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patient and doctor details in a database.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patient appointments.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medical records.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bills easily.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paperwork and save time.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quick and accurate hospital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1A0E7-6B74-5751-AE94-AB160C97B582}"/>
              </a:ext>
            </a:extLst>
          </p:cNvPr>
          <p:cNvSpPr txBox="1"/>
          <p:nvPr/>
        </p:nvSpPr>
        <p:spPr>
          <a:xfrm>
            <a:off x="608132" y="5013490"/>
            <a:ext cx="8842136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objectives reflect the main functions of hospital systems: centralized records, appointments , billing, and efficient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 DETAIL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01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680191"/>
              </p:ext>
            </p:extLst>
          </p:nvPr>
        </p:nvGraphicFramePr>
        <p:xfrm>
          <a:off x="290750" y="1048966"/>
          <a:ext cx="9539050" cy="6470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6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2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Entity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Attributes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Patient_ID, Patient_Name, Date_Of_Birth, Gender, Phone, Email, Address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Every person registered in the hospital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Doctor_ID, Doctor_Name, Specialization, Phone, Email, Department_ID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Consulting doctors, one per department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DEPARTMENT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Department_ID, Department_Name, Location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Cardiology, Orthopaedics, ENT, Neurology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NURSE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Nurse_ID, Nurse_Name, Phone, Email, Department_ID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Nursing staff assigned to a department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ROOM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Room_ID, Room_Number, Room_Type, Floor, Availability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General, Semi-private, Private and ICU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Appointment_ID, Patient_ID, Doctor_ID, Room_ID,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Appointment_Date, Appointment_Time, Status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Booking between a patient and a doctor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MEDICAL_RECORD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Record_ID, Patient_ID, Doctor_ID, Diagnosis, Treatment,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Record_Date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Diagnosis and treatment of each visit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MEDICINE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Medicine_ID, Medicine_Name, Type, Price, Stock, Expiry_Date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Pharmacy stock of the hospital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BILLING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Bill_ID, Patient_ID, Appointment_ID, Amount, Billing_Date,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10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Payment_Status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Charges raised against a patient visit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101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PRESCRIPTION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Prescription_ID, Record_ID, Medicine_ID, Dosage, Duration_Days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0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Bridge table for the M : N link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2" name="TextBox 202"/>
          <p:cNvSpPr txBox="1"/>
          <p:nvPr/>
        </p:nvSpPr>
        <p:spPr>
          <a:xfrm>
            <a:off x="659811" y="7242400"/>
            <a:ext cx="89611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250" dirty="0">
              <a:solidFill>
                <a:srgbClr val="4A4A4A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201" name="ER Diagram 20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800" y="1216578"/>
            <a:ext cx="8763000" cy="5760103"/>
          </a:xfrm>
          <a:prstGeom prst="rect">
            <a:avLst/>
          </a:prstGeom>
        </p:spPr>
      </p:pic>
      <p:sp>
        <p:nvSpPr>
          <p:cNvPr id="202" name="TextBox 202"/>
          <p:cNvSpPr txBox="1"/>
          <p:nvPr/>
        </p:nvSpPr>
        <p:spPr>
          <a:xfrm>
            <a:off x="548640" y="7176681"/>
            <a:ext cx="896112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300" i="1" dirty="0">
                <a:solidFill>
                  <a:srgbClr val="4A4A4A"/>
                </a:solidFill>
                <a:latin typeface="Times New Roman"/>
                <a:cs typeface="Times New Roman"/>
              </a:rPr>
              <a:t>Rectangles = entities,  ellipses = attributes,  diamonds = relationships,  1 / N / M = cardinality,  underlined = primary key.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&amp; CARDINALITY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01" name="Table 2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46385"/>
              </p:ext>
            </p:extLst>
          </p:nvPr>
        </p:nvGraphicFramePr>
        <p:xfrm>
          <a:off x="548640" y="1519999"/>
          <a:ext cx="8961120" cy="480552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53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Relationship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Between entities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Cardinality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Foreign key placed in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has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DEPARTMENT – DOCTOR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 : 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DOCTOR.Department_ID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has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DEPARTMENT – NURSE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 : 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NURSE.Department_ID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books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 – APPOINTMENT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 : 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APPOINTMENT.Patient_ID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schedules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 – APPOINTMENT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 : 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APPOINTMENT.Doctor_ID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assigned to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 – ROOM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N : 1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APPOINTMENT.Room_ID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has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 – MEDICAL_RECORD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 : 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MEDICAL_RECORD.Patient_ID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treats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 – MEDICAL_RECORD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 : 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MEDICAL_RECORD.Doctor_ID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generates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 – BILLING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 : 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BILLING.Patient_ID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789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billed for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 – BILLING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 : 1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BILLING.Appointment_ID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88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prescribes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MEDICAL_RECORD – MEDICINE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 : 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8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PRESCRIPTION (bridge table)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2" name="TextBox 202"/>
          <p:cNvSpPr txBox="1"/>
          <p:nvPr/>
        </p:nvSpPr>
        <p:spPr>
          <a:xfrm>
            <a:off x="738392" y="6980199"/>
            <a:ext cx="8961120" cy="471449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b="1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participation:  </a:t>
            </a:r>
            <a:r>
              <a:rPr lang="en-IN" sz="1600" dirty="0">
                <a:solidFill>
                  <a:srgbClr val="4A4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appointment must belong to a patient and a doctor, and every bill must belong to a patient.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2B2D-7BF9-B92D-496C-284A3FE8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1092607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b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34FAB12-DC53-182B-9C82-0D90555FD3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7B0B4438-1C11-5F76-0FAD-8493E6EE484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CD862D69-E57C-5073-9607-2B04915566B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190C0F65-100C-F0A4-DAEC-C6482B9604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1D0D4B2C-53C7-862E-EB02-000CA5C1CC5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F51BD76A-14D7-D33C-BC88-0D48BBA8222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16A8EA8-5288-FB4B-8FC0-0343358113E8}"/>
              </a:ext>
            </a:extLst>
          </p:cNvPr>
          <p:cNvSpPr txBox="1"/>
          <p:nvPr/>
        </p:nvSpPr>
        <p:spPr>
          <a:xfrm>
            <a:off x="2722007" y="360478"/>
            <a:ext cx="502920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053FDE-6879-6C96-65BE-BDDA7F2CE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40153"/>
            <a:ext cx="8624650" cy="617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4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588419" y="-2375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18026" y="268853"/>
            <a:ext cx="510390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(1NF – 3NF)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TextBox 201"/>
          <p:cNvSpPr txBox="1"/>
          <p:nvPr/>
        </p:nvSpPr>
        <p:spPr>
          <a:xfrm>
            <a:off x="548640" y="1520000"/>
            <a:ext cx="896112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IN" sz="1450" dirty="0">
              <a:solidFill>
                <a:srgbClr val="1A1A1A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77F27-A2D1-810C-CDEF-2D661906EC34}"/>
              </a:ext>
            </a:extLst>
          </p:cNvPr>
          <p:cNvSpPr txBox="1"/>
          <p:nvPr/>
        </p:nvSpPr>
        <p:spPr>
          <a:xfrm>
            <a:off x="524216" y="811738"/>
            <a:ext cx="9232310" cy="603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arranging data properly in a database to avoid duplicate data and improve accuracy.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 (First Normal Form)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column should contain only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value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repeating data in a row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 (Second Normal Form)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must be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should depend on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primary key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3NF (Third Normal Form)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must be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unnecessary dependencies.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duplicate data, better storage, and easy maintenance of the database.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&amp; FOREIGN KEYS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412F2C-5A3B-1BCA-8C00-539265A05B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1350"/>
            <a:ext cx="7848600" cy="46702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BAB11C-9D10-14F3-12F0-6E33AE7831C4}"/>
              </a:ext>
            </a:extLst>
          </p:cNvPr>
          <p:cNvSpPr txBox="1"/>
          <p:nvPr/>
        </p:nvSpPr>
        <p:spPr>
          <a:xfrm>
            <a:off x="1489405" y="5715000"/>
            <a:ext cx="59436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PRIMARY KEY (PK)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Uniquely identifies each record in the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Cannot contain null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Only one primary key in one table</a:t>
            </a:r>
          </a:p>
          <a:p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FCE71-04A6-7AF3-295C-660D334450AB}"/>
              </a:ext>
            </a:extLst>
          </p:cNvPr>
          <p:cNvSpPr txBox="1"/>
          <p:nvPr/>
        </p:nvSpPr>
        <p:spPr>
          <a:xfrm>
            <a:off x="1489404" y="6871050"/>
            <a:ext cx="60543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accent6"/>
                </a:solidFill>
              </a:rPr>
              <a:t>FOREIGN KEY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References a primary key in another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Establishes a relationship between the tables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520000"/>
            <a:ext cx="5200000" cy="470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640" y="1610000"/>
            <a:ext cx="4980000" cy="452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CREATE DATABASE HospitalDB;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USE HospitalDB;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CREATE TABLE Patient (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Patient_ID    INT PRIMARY KEY,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Patient_Name  VARCHAR(50) NOT NULL,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Date_Of_Birth DATE NOT NULL,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Gender        CHAR(1)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              CHECK (Gender IN ('M','F','O')),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Phone         VARCHAR(15) UNIQUE NOT NULL,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Email         VARCHAR(50) UNIQUE,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Address       VARCHAR(100) DEFAULT 'Not given'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);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CREATE TABLE Appointment (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Appointment_ID   INT PRIMARY KEY,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Patient_ID       INT NOT NULL,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Doctor_ID        INT NOT NULL,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Appointment_Date DATE NOT NULL,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Status VARCHAR(12) DEFAULT 'Booked'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  CHECK (Status IN ('Booked','Completed','Cancelled')),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FOREIGN KEY (Patient_ID) REFERENCES Patient(Patient_ID),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FOREIGN KEY (Doctor_ID)  REFERENCES Doctor(Doctor_ID)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);</a:t>
            </a:r>
          </a:p>
        </p:txBody>
      </p:sp>
      <p:sp>
        <p:nvSpPr>
          <p:cNvPr id="203" name="Shape 203"/>
          <p:cNvSpPr/>
          <p:nvPr/>
        </p:nvSpPr>
        <p:spPr>
          <a:xfrm>
            <a:off x="6048640" y="1520000"/>
            <a:ext cx="3461120" cy="470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6178640" y="1520000"/>
            <a:ext cx="3201120" cy="470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500" b="1" dirty="0">
                <a:solidFill>
                  <a:srgbClr val="FF6600"/>
                </a:solidFill>
                <a:latin typeface="Times New Roman"/>
                <a:cs typeface="Times New Roman"/>
              </a:rPr>
              <a:t>Constraints applied</a:t>
            </a: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300" b="1" dirty="0">
                <a:solidFill>
                  <a:srgbClr val="17375E"/>
                </a:solidFill>
                <a:latin typeface="Times New Roman"/>
                <a:cs typeface="Times New Roman"/>
              </a:rPr>
              <a:t>PRIMARY KEY — </a:t>
            </a:r>
            <a:r>
              <a:rPr lang="en-IN" sz="1300" dirty="0">
                <a:solidFill>
                  <a:srgbClr val="4A4A4A"/>
                </a:solidFill>
                <a:latin typeface="Times New Roman"/>
                <a:cs typeface="Times New Roman"/>
              </a:rPr>
              <a:t>uniquely identifies every row</a:t>
            </a: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300" b="1" dirty="0">
                <a:solidFill>
                  <a:srgbClr val="17375E"/>
                </a:solidFill>
                <a:latin typeface="Times New Roman"/>
                <a:cs typeface="Times New Roman"/>
              </a:rPr>
              <a:t>FOREIGN KEY — </a:t>
            </a:r>
            <a:r>
              <a:rPr lang="en-IN" sz="1300" dirty="0">
                <a:solidFill>
                  <a:srgbClr val="4A4A4A"/>
                </a:solidFill>
                <a:latin typeface="Times New Roman"/>
                <a:cs typeface="Times New Roman"/>
              </a:rPr>
              <a:t>links child rows to a valid parent</a:t>
            </a: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300" b="1" dirty="0">
                <a:solidFill>
                  <a:srgbClr val="17375E"/>
                </a:solidFill>
                <a:latin typeface="Times New Roman"/>
                <a:cs typeface="Times New Roman"/>
              </a:rPr>
              <a:t>NOT NULL — </a:t>
            </a:r>
            <a:r>
              <a:rPr lang="en-IN" sz="1300" dirty="0">
                <a:solidFill>
                  <a:srgbClr val="4A4A4A"/>
                </a:solidFill>
                <a:latin typeface="Times New Roman"/>
                <a:cs typeface="Times New Roman"/>
              </a:rPr>
              <a:t>name, phone and date fields cannot be empty</a:t>
            </a: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300" b="1" dirty="0">
                <a:solidFill>
                  <a:srgbClr val="17375E"/>
                </a:solidFill>
                <a:latin typeface="Times New Roman"/>
                <a:cs typeface="Times New Roman"/>
              </a:rPr>
              <a:t>UNIQUE — </a:t>
            </a:r>
            <a:r>
              <a:rPr lang="en-IN" sz="1300" dirty="0">
                <a:solidFill>
                  <a:srgbClr val="4A4A4A"/>
                </a:solidFill>
                <a:latin typeface="Times New Roman"/>
                <a:cs typeface="Times New Roman"/>
              </a:rPr>
              <a:t>no two patients share a phone or email</a:t>
            </a: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300" b="1" dirty="0">
                <a:solidFill>
                  <a:srgbClr val="17375E"/>
                </a:solidFill>
                <a:latin typeface="Times New Roman"/>
                <a:cs typeface="Times New Roman"/>
              </a:rPr>
              <a:t>CHECK — </a:t>
            </a:r>
            <a:r>
              <a:rPr lang="en-IN" sz="1300" dirty="0">
                <a:solidFill>
                  <a:srgbClr val="4A4A4A"/>
                </a:solidFill>
                <a:latin typeface="Times New Roman"/>
                <a:cs typeface="Times New Roman"/>
              </a:rPr>
              <a:t>Gender, Status and Amount accept only valid values</a:t>
            </a: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300" b="1" dirty="0">
                <a:solidFill>
                  <a:srgbClr val="17375E"/>
                </a:solidFill>
                <a:latin typeface="Times New Roman"/>
                <a:cs typeface="Times New Roman"/>
              </a:rPr>
              <a:t>DEFAULT — </a:t>
            </a:r>
            <a:r>
              <a:rPr lang="en-IN" sz="1300" dirty="0">
                <a:solidFill>
                  <a:srgbClr val="4A4A4A"/>
                </a:solidFill>
                <a:latin typeface="Times New Roman"/>
                <a:cs typeface="Times New Roman"/>
              </a:rPr>
              <a:t>Status defaults to 'Booked', Availability to 'Yes'</a:t>
            </a: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300" b="1" dirty="0">
                <a:solidFill>
                  <a:srgbClr val="17375E"/>
                </a:solidFill>
                <a:latin typeface="Times New Roman"/>
                <a:cs typeface="Times New Roman"/>
              </a:rPr>
              <a:t>AUTO_INCREMENT — </a:t>
            </a:r>
            <a:r>
              <a:rPr lang="en-IN" sz="1300" dirty="0">
                <a:solidFill>
                  <a:srgbClr val="4A4A4A"/>
                </a:solidFill>
                <a:latin typeface="Times New Roman"/>
                <a:cs typeface="Times New Roman"/>
              </a:rPr>
              <a:t>surrogate IDs generated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520000"/>
            <a:ext cx="5500000" cy="3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640" y="1610000"/>
            <a:ext cx="5280000" cy="337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INSERT INTO Department VALUES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(1,'Cardiology','Block A - 2nd Floor'),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(2,'Orthopaedics','Block B - 1st Floor'),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(3,'Neurology','Block A - 3rd Floor');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INSERT INTO Patient VALUES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(101,'Ravi Kumar','2001-05-14','M','9876543210',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 'ravi@mail.com','Kakinada'),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(102,'Sneha Reddy','1995-11-02','F','9876501234',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 'sneha@mail.com','Rajahmundry');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INSERT INTO Appointment VALUES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(5001,101,11,'2026-09-10','10:30:00','Booked'),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 (5002,102,12,'2026-09-11','11:00:00','Completed');</a:t>
            </a:r>
          </a:p>
        </p:txBody>
      </p:sp>
      <p:graphicFrame>
        <p:nvGraphicFramePr>
          <p:cNvPr id="203" name="Table 203"/>
          <p:cNvGraphicFramePr>
            <a:graphicFrameLocks noGrp="1"/>
          </p:cNvGraphicFramePr>
          <p:nvPr/>
        </p:nvGraphicFramePr>
        <p:xfrm>
          <a:off x="6348640" y="1520000"/>
          <a:ext cx="3161120" cy="355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6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Table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Rows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Department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05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Nurse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Room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Appointment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Medical_Record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Medicine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Prescription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Billing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2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4" name="Shape 204"/>
          <p:cNvSpPr/>
          <p:nvPr/>
        </p:nvSpPr>
        <p:spPr>
          <a:xfrm>
            <a:off x="548640" y="5370000"/>
            <a:ext cx="5500000" cy="150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TextBox 205"/>
          <p:cNvSpPr txBox="1"/>
          <p:nvPr/>
        </p:nvSpPr>
        <p:spPr>
          <a:xfrm>
            <a:off x="698640" y="5370000"/>
            <a:ext cx="52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5720" rIns="60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350" b="1" dirty="0">
                <a:solidFill>
                  <a:srgbClr val="17375E"/>
                </a:solidFill>
                <a:latin typeface="Times New Roman"/>
                <a:cs typeface="Times New Roman"/>
              </a:rPr>
              <a:t>Insertion order follows the foreign-key dependency:</a:t>
            </a:r>
          </a:p>
          <a:p>
            <a:pPr>
              <a:lnSpc>
                <a:spcPct val="115000"/>
              </a:lnSpc>
              <a:spcBef>
                <a:spcPts val="250"/>
              </a:spcBef>
              <a:buNone/>
            </a:pPr>
            <a:r>
              <a:rPr lang="en-IN" sz="1300" dirty="0">
                <a:solidFill>
                  <a:srgbClr val="1A1A1A"/>
                </a:solidFill>
                <a:latin typeface="Times New Roman"/>
                <a:cs typeface="Times New Roman"/>
              </a:rPr>
              <a:t>Department → Doctor / Nurse → Patient → Room → Appointment → Medical_Record → Medicine → Prescription → Billing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520000"/>
            <a:ext cx="8961120" cy="156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640" y="1610000"/>
            <a:ext cx="8741120" cy="138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rgbClr val="FFB86C"/>
                </a:solidFill>
                <a:latin typeface="Courier New"/>
                <a:cs typeface="Courier New"/>
              </a:rPr>
              <a:t>DDL  —  defines and modifies the structure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CREATE TABLE Room (Room_ID INT PRIMARY KEY, Room_Number VARCHAR(10) UNIQUE,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                   Room_Type VARCHAR(20), Availability CHAR(3) DEFAULT 'Yes');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ALTER TABLE Doctor ADD Experience_Years INT;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ALTER TABLE Doctor MODIFY Specialization VARCHAR(60) NOT NULL;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TRUNCATE TABLE Prescription;    -- removes all rows, keeps the structure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DROP TABLE Prescription;        -- removes the table completely</a:t>
            </a:r>
          </a:p>
        </p:txBody>
      </p:sp>
      <p:sp>
        <p:nvSpPr>
          <p:cNvPr id="203" name="Shape 203"/>
          <p:cNvSpPr/>
          <p:nvPr/>
        </p:nvSpPr>
        <p:spPr>
          <a:xfrm>
            <a:off x="548640" y="3280000"/>
            <a:ext cx="8961120" cy="176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658640" y="3370000"/>
            <a:ext cx="8741120" cy="158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rgbClr val="FFB86C"/>
                </a:solidFill>
                <a:latin typeface="Courier New"/>
                <a:cs typeface="Courier New"/>
              </a:rPr>
              <a:t>DML  —  adds, changes and removes the data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INSERT INTO Patient (Patient_ID, Patient_Name, Date_Of_Birth, Gender, Phone)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VALUES (121, 'Anitha Rao', '1998-02-19', 'F', '9000012345');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UPDATE Appointment SET Status = 'Completed' WHERE Appointment_ID = 5001;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UPDATE Medicine SET Stock = Stock - 10 WHERE Medicine_ID = 301;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DELETE FROM Appointment WHERE Status = 'Cancelled';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START TRANSACTION;  UPDATE Billing SET Payment_Status='Paid' WHERE Bill_ID=9001;  COMMIT;</a:t>
            </a:r>
          </a:p>
        </p:txBody>
      </p:sp>
      <p:sp>
        <p:nvSpPr>
          <p:cNvPr id="205" name="Shape 205"/>
          <p:cNvSpPr/>
          <p:nvPr/>
        </p:nvSpPr>
        <p:spPr>
          <a:xfrm>
            <a:off x="548640" y="5240000"/>
            <a:ext cx="8961120" cy="196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658640" y="5330000"/>
            <a:ext cx="8741120" cy="178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rgbClr val="FFB86C"/>
                </a:solidFill>
                <a:latin typeface="Courier New"/>
                <a:cs typeface="Courier New"/>
              </a:rPr>
              <a:t>DQL  —  retrieves the data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SELECT * FROM Doctor WHERE Specialization = 'Cardiologist';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SELECT * FROM Appointment WHERE Appointment_Date BETWEEN '2026-09-01' AND '2026-09-30'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ORDER BY Appointment_Date ASC;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SELECT Patient_Name FROM Patient WHERE Patient_Name LIKE 'R%';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SELECT Department_ID, COUNT(*) AS Total_Doctors FROM Doctor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GROUP BY Department_ID HAVING COUNT(*) &gt; 2;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50" dirty="0">
                <a:solidFill>
                  <a:srgbClr val="E9EDF2"/>
                </a:solidFill>
                <a:latin typeface="Courier New"/>
                <a:cs typeface="Courier New"/>
              </a:rPr>
              <a:t>SELECT DISTINCT Specialization FROM Doctor;   SELECT * FROM Billing ORDER BY Amount DESC LIMIT 5;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548640" y="7370000"/>
            <a:ext cx="89611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50" b="1" dirty="0">
                <a:solidFill>
                  <a:srgbClr val="17375E"/>
                </a:solidFill>
                <a:latin typeface="Times New Roman"/>
                <a:cs typeface="Times New Roman"/>
              </a:rPr>
              <a:t>Clause order:  </a:t>
            </a:r>
            <a:r>
              <a:rPr lang="en-IN" sz="1250" dirty="0">
                <a:solidFill>
                  <a:srgbClr val="4A4A4A"/>
                </a:solidFill>
                <a:latin typeface="Courier New"/>
                <a:cs typeface="Courier New"/>
              </a:rPr>
              <a:t>SELECT → FROM → WHERE → GROUP BY → HAVING → ORDER BY → LIMIT</a:t>
            </a: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     TRUNCATE is DDL and cannot be rolled back; DELETE is DML and can.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CRUD, JOINS &amp; AGGREGATE FUNCTIONS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520000"/>
            <a:ext cx="4380560" cy="1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640" y="1590000"/>
            <a:ext cx="4160560" cy="141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3000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Courier New"/>
                <a:cs typeface="Courier New"/>
              </a:rPr>
              <a:t>C  </a:t>
            </a:r>
            <a:r>
              <a:rPr lang="en-IN" sz="1250" b="1" dirty="0">
                <a:solidFill>
                  <a:srgbClr val="FFB86C"/>
                </a:solidFill>
                <a:latin typeface="Courier New"/>
                <a:cs typeface="Courier New"/>
              </a:rPr>
              <a:t>CREATE</a:t>
            </a:r>
          </a:p>
          <a:p>
            <a:pPr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rgbClr val="E9EDF2"/>
                </a:solidFill>
                <a:latin typeface="Courier New"/>
                <a:cs typeface="Courier New"/>
              </a:rPr>
              <a:t>INSERT INTO Patient VALUES (130,'Kiran','2000-07-08',</a:t>
            </a:r>
          </a:p>
          <a:p>
            <a:pPr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rgbClr val="E9EDF2"/>
                </a:solidFill>
                <a:latin typeface="Courier New"/>
                <a:cs typeface="Courier New"/>
              </a:rPr>
              <a:t>  'M','9812345670','kiran@mail.com','Kakinada');</a:t>
            </a:r>
          </a:p>
        </p:txBody>
      </p:sp>
      <p:sp>
        <p:nvSpPr>
          <p:cNvPr id="203" name="Shape 203"/>
          <p:cNvSpPr/>
          <p:nvPr/>
        </p:nvSpPr>
        <p:spPr>
          <a:xfrm>
            <a:off x="5129200" y="1520000"/>
            <a:ext cx="4380560" cy="1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5239200" y="1590000"/>
            <a:ext cx="4160560" cy="141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3000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Courier New"/>
                <a:cs typeface="Courier New"/>
              </a:rPr>
              <a:t>R  </a:t>
            </a:r>
            <a:r>
              <a:rPr lang="en-IN" sz="1250" b="1" dirty="0">
                <a:solidFill>
                  <a:srgbClr val="FFB86C"/>
                </a:solidFill>
                <a:latin typeface="Courier New"/>
                <a:cs typeface="Courier New"/>
              </a:rPr>
              <a:t>READ</a:t>
            </a:r>
          </a:p>
          <a:p>
            <a:pPr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rgbClr val="E9EDF2"/>
                </a:solidFill>
                <a:latin typeface="Courier New"/>
                <a:cs typeface="Courier New"/>
              </a:rPr>
              <a:t>SELECT Patient_Name, Appointment_Date, Status</a:t>
            </a:r>
          </a:p>
          <a:p>
            <a:pPr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rgbClr val="E9EDF2"/>
                </a:solidFill>
                <a:latin typeface="Courier New"/>
                <a:cs typeface="Courier New"/>
              </a:rPr>
              <a:t>FROM Patient p JOIN Appointment a</a:t>
            </a:r>
          </a:p>
          <a:p>
            <a:pPr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rgbClr val="E9EDF2"/>
                </a:solidFill>
                <a:latin typeface="Courier New"/>
                <a:cs typeface="Courier New"/>
              </a:rPr>
              <a:t>  ON p.Patient_ID = a.Patient_ID;</a:t>
            </a:r>
          </a:p>
        </p:txBody>
      </p:sp>
      <p:sp>
        <p:nvSpPr>
          <p:cNvPr id="205" name="Shape 205"/>
          <p:cNvSpPr/>
          <p:nvPr/>
        </p:nvSpPr>
        <p:spPr>
          <a:xfrm>
            <a:off x="548640" y="3270000"/>
            <a:ext cx="4380560" cy="1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658640" y="3340000"/>
            <a:ext cx="4160560" cy="141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3000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Courier New"/>
                <a:cs typeface="Courier New"/>
              </a:rPr>
              <a:t>U  </a:t>
            </a:r>
            <a:r>
              <a:rPr lang="en-IN" sz="1250" b="1" dirty="0">
                <a:solidFill>
                  <a:srgbClr val="FFB86C"/>
                </a:solidFill>
                <a:latin typeface="Courier New"/>
                <a:cs typeface="Courier New"/>
              </a:rPr>
              <a:t>UPDATE</a:t>
            </a:r>
          </a:p>
          <a:p>
            <a:pPr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rgbClr val="E9EDF2"/>
                </a:solidFill>
                <a:latin typeface="Courier New"/>
                <a:cs typeface="Courier New"/>
              </a:rPr>
              <a:t>UPDATE Patient SET Phone = '9898989898'</a:t>
            </a:r>
          </a:p>
          <a:p>
            <a:pPr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rgbClr val="E9EDF2"/>
                </a:solidFill>
                <a:latin typeface="Courier New"/>
                <a:cs typeface="Courier New"/>
              </a:rPr>
              <a:t>WHERE Patient_ID = 130;</a:t>
            </a:r>
          </a:p>
        </p:txBody>
      </p:sp>
      <p:sp>
        <p:nvSpPr>
          <p:cNvPr id="207" name="Shape 207"/>
          <p:cNvSpPr/>
          <p:nvPr/>
        </p:nvSpPr>
        <p:spPr>
          <a:xfrm>
            <a:off x="5129200" y="3270000"/>
            <a:ext cx="4380560" cy="15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TextBox 208"/>
          <p:cNvSpPr txBox="1"/>
          <p:nvPr/>
        </p:nvSpPr>
        <p:spPr>
          <a:xfrm>
            <a:off x="5239200" y="3340000"/>
            <a:ext cx="4160560" cy="141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3000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Courier New"/>
                <a:cs typeface="Courier New"/>
              </a:rPr>
              <a:t>D  </a:t>
            </a:r>
            <a:r>
              <a:rPr lang="en-IN" sz="1250" b="1" dirty="0">
                <a:solidFill>
                  <a:srgbClr val="FFB86C"/>
                </a:solidFill>
                <a:latin typeface="Courier New"/>
                <a:cs typeface="Courier New"/>
              </a:rPr>
              <a:t>DELETE</a:t>
            </a:r>
          </a:p>
          <a:p>
            <a:pPr>
              <a:lnSpc>
                <a:spcPct val="100000"/>
              </a:lnSpc>
              <a:spcBef>
                <a:spcPts val="160"/>
              </a:spcBef>
              <a:buNone/>
            </a:pPr>
            <a:r>
              <a:rPr lang="en-IN" sz="1000" dirty="0">
                <a:solidFill>
                  <a:srgbClr val="E9EDF2"/>
                </a:solidFill>
                <a:latin typeface="Courier New"/>
                <a:cs typeface="Courier New"/>
              </a:rPr>
              <a:t>DELETE FROM Patient WHERE Patient_ID = 130;</a:t>
            </a:r>
          </a:p>
        </p:txBody>
      </p:sp>
      <p:sp>
        <p:nvSpPr>
          <p:cNvPr id="209" name="Shape 209"/>
          <p:cNvSpPr/>
          <p:nvPr/>
        </p:nvSpPr>
        <p:spPr>
          <a:xfrm>
            <a:off x="548640" y="5080000"/>
            <a:ext cx="8961120" cy="175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extBox 210"/>
          <p:cNvSpPr txBox="1"/>
          <p:nvPr/>
        </p:nvSpPr>
        <p:spPr>
          <a:xfrm>
            <a:off x="658640" y="5170000"/>
            <a:ext cx="8741120" cy="157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080" dirty="0">
                <a:solidFill>
                  <a:srgbClr val="8FD19E"/>
                </a:solidFill>
                <a:latin typeface="Courier New"/>
                <a:cs typeface="Courier New"/>
              </a:rPr>
              <a:t>-- JOIN : patients with their doctor and department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SELECT p.Patient_Name, d.Doctor_Name, dp.Department_Name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FROM Appointment a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JOIN Patient p ON a.Patient_ID=p.Patient_ID JOIN Doctor d ON a.Doctor_ID=d.Doctor_ID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JOIN Department dp ON d.Department_ID = dp.Department_ID;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8FD19E"/>
                </a:solidFill>
                <a:latin typeface="Courier New"/>
                <a:cs typeface="Courier New"/>
              </a:rPr>
              <a:t>-- Aggregate functions on Billing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SELECT COUNT(*) Total_Bills, SUM(Amount) Revenue, AVG(Amount) Average, MAX(Amount) Highest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FROM Billing WHERE Payment_Status = 'Paid';</a:t>
            </a:r>
          </a:p>
        </p:txBody>
      </p:sp>
      <p:graphicFrame>
        <p:nvGraphicFramePr>
          <p:cNvPr id="211" name="Table 211"/>
          <p:cNvGraphicFramePr>
            <a:graphicFrameLocks noGrp="1"/>
          </p:cNvGraphicFramePr>
          <p:nvPr/>
        </p:nvGraphicFramePr>
        <p:xfrm>
          <a:off x="548640" y="7050000"/>
          <a:ext cx="8961120" cy="6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Total_Bills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Revenue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Average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Highest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Lowest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1,84,500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9,225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32,000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15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1,200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VIEWS, SUBQUERIES &amp; INDEXES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520000"/>
            <a:ext cx="8961120" cy="228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58640" y="1610000"/>
            <a:ext cx="8741120" cy="210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30" dirty="0">
                <a:solidFill>
                  <a:srgbClr val="8FD19E"/>
                </a:solidFill>
                <a:latin typeface="Courier New"/>
                <a:cs typeface="Courier New"/>
              </a:rPr>
              <a:t>-- VIEW : a reusable virtual table for the reception desk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CREATE VIEW Today_Appointments AS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SELECT a.Appointment_ID, p.Patient_Name, d.Doctor_Name, a.Appointment_Time, a.Status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FROM Appointment a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JOIN Patient p ON a.Patient_ID = p.Patient_ID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JOIN Doctor  d ON a.Doctor_ID  = d.Doctor_ID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WHERE a.Appointment_Date = CURDATE();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SELECT * FROM Today_Appointments;</a:t>
            </a:r>
          </a:p>
        </p:txBody>
      </p:sp>
      <p:sp>
        <p:nvSpPr>
          <p:cNvPr id="203" name="Shape 203"/>
          <p:cNvSpPr/>
          <p:nvPr/>
        </p:nvSpPr>
        <p:spPr>
          <a:xfrm>
            <a:off x="548640" y="4040000"/>
            <a:ext cx="8961120" cy="190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658640" y="4130000"/>
            <a:ext cx="8741120" cy="172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30" dirty="0">
                <a:solidFill>
                  <a:srgbClr val="8FD19E"/>
                </a:solidFill>
                <a:latin typeface="Courier New"/>
                <a:cs typeface="Courier New"/>
              </a:rPr>
              <a:t>-- SUBQUERY : patients billed above the average bill amount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SELECT Patient_ID, Amount FROM Billing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WHERE Amount &gt; (SELECT AVG(Amount) FROM Billing);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8FD19E"/>
                </a:solidFill>
                <a:latin typeface="Courier New"/>
                <a:cs typeface="Courier New"/>
              </a:rPr>
              <a:t>-- SUBQUERY with IN : doctors who have at least one appointment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SELECT Doctor_Name FROM Doctor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130" dirty="0">
                <a:solidFill>
                  <a:srgbClr val="E9EDF2"/>
                </a:solidFill>
                <a:latin typeface="Courier New"/>
                <a:cs typeface="Courier New"/>
              </a:rPr>
              <a:t>WHERE Doctor_ID IN (SELECT DISTINCT Doctor_ID FROM Appointment);</a:t>
            </a:r>
          </a:p>
        </p:txBody>
      </p:sp>
      <p:sp>
        <p:nvSpPr>
          <p:cNvPr id="205" name="Shape 205"/>
          <p:cNvSpPr/>
          <p:nvPr/>
        </p:nvSpPr>
        <p:spPr>
          <a:xfrm>
            <a:off x="548640" y="6180000"/>
            <a:ext cx="4355560" cy="115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678640" y="6180000"/>
            <a:ext cx="4095560" cy="11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>
                <a:solidFill>
                  <a:srgbClr val="FF6600"/>
                </a:solidFill>
                <a:latin typeface="Times New Roman"/>
                <a:cs typeface="Times New Roman"/>
              </a:rPr>
              <a:t>Why views help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30" dirty="0">
                <a:solidFill>
                  <a:srgbClr val="4A4A4A"/>
                </a:solidFill>
                <a:latin typeface="Times New Roman"/>
                <a:cs typeface="Times New Roman"/>
              </a:rPr>
              <a:t>Hide complex joins from everyday users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30" dirty="0">
                <a:solidFill>
                  <a:srgbClr val="4A4A4A"/>
                </a:solidFill>
                <a:latin typeface="Times New Roman"/>
                <a:cs typeface="Times New Roman"/>
              </a:rPr>
              <a:t>Give read-only access without exposing base tables</a:t>
            </a:r>
          </a:p>
        </p:txBody>
      </p:sp>
      <p:sp>
        <p:nvSpPr>
          <p:cNvPr id="207" name="Shape 207"/>
          <p:cNvSpPr/>
          <p:nvPr/>
        </p:nvSpPr>
        <p:spPr>
          <a:xfrm>
            <a:off x="5154200" y="6180000"/>
            <a:ext cx="4355560" cy="11500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TextBox 208"/>
          <p:cNvSpPr txBox="1"/>
          <p:nvPr/>
        </p:nvSpPr>
        <p:spPr>
          <a:xfrm>
            <a:off x="5284200" y="6180000"/>
            <a:ext cx="4095560" cy="11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1" dirty="0">
                <a:solidFill>
                  <a:srgbClr val="17375E"/>
                </a:solidFill>
                <a:latin typeface="Times New Roman"/>
                <a:cs typeface="Times New Roman"/>
              </a:rPr>
              <a:t>Indexes created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150" dirty="0">
                <a:solidFill>
                  <a:srgbClr val="4A4A4A"/>
                </a:solidFill>
                <a:latin typeface="Times New Roman"/>
                <a:cs typeface="Times New Roman"/>
              </a:rPr>
              <a:t>CREATE INDEX idx_pat_name ON Patient(Patient_Name);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150" dirty="0">
                <a:solidFill>
                  <a:srgbClr val="4A4A4A"/>
                </a:solidFill>
                <a:latin typeface="Times New Roman"/>
                <a:cs typeface="Times New Roman"/>
              </a:rPr>
              <a:t>CREATE INDEX idx_app_date ON Appointment(Appointment_Date);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01" name="Shape 201"/>
          <p:cNvSpPr/>
          <p:nvPr/>
        </p:nvSpPr>
        <p:spPr>
          <a:xfrm>
            <a:off x="548640" y="1520000"/>
            <a:ext cx="4370560" cy="165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TextBox 202"/>
          <p:cNvSpPr txBox="1"/>
          <p:nvPr/>
        </p:nvSpPr>
        <p:spPr>
          <a:xfrm>
            <a:off x="678640" y="1520000"/>
            <a:ext cx="4110560" cy="16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80" b="1" dirty="0">
                <a:solidFill>
                  <a:srgbClr val="FF6600"/>
                </a:solidFill>
                <a:latin typeface="Times New Roman"/>
                <a:cs typeface="Times New Roman"/>
              </a:rPr>
              <a:t>Entity integrity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80" dirty="0">
                <a:solidFill>
                  <a:srgbClr val="4A4A4A"/>
                </a:solidFill>
                <a:latin typeface="Times New Roman"/>
                <a:cs typeface="Times New Roman"/>
              </a:rPr>
              <a:t>Every table has a primary key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80" dirty="0">
                <a:solidFill>
                  <a:srgbClr val="4A4A4A"/>
                </a:solidFill>
                <a:latin typeface="Times New Roman"/>
                <a:cs typeface="Times New Roman"/>
              </a:rPr>
              <a:t>No primary key value is NULL or repeated</a:t>
            </a:r>
          </a:p>
        </p:txBody>
      </p:sp>
      <p:sp>
        <p:nvSpPr>
          <p:cNvPr id="203" name="Shape 203"/>
          <p:cNvSpPr/>
          <p:nvPr/>
        </p:nvSpPr>
        <p:spPr>
          <a:xfrm>
            <a:off x="5139200" y="1520000"/>
            <a:ext cx="4370560" cy="165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TextBox 204"/>
          <p:cNvSpPr txBox="1"/>
          <p:nvPr/>
        </p:nvSpPr>
        <p:spPr>
          <a:xfrm>
            <a:off x="5269200" y="1520000"/>
            <a:ext cx="4110560" cy="16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80" b="1" dirty="0">
                <a:solidFill>
                  <a:srgbClr val="FF6600"/>
                </a:solidFill>
                <a:latin typeface="Times New Roman"/>
                <a:cs typeface="Times New Roman"/>
              </a:rPr>
              <a:t>Referential integrity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80" dirty="0">
                <a:solidFill>
                  <a:srgbClr val="4A4A4A"/>
                </a:solidFill>
                <a:latin typeface="Times New Roman"/>
                <a:cs typeface="Times New Roman"/>
              </a:rPr>
              <a:t>Foreign keys accept only existing parent values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80" dirty="0">
                <a:solidFill>
                  <a:srgbClr val="4A4A4A"/>
                </a:solidFill>
                <a:latin typeface="Times New Roman"/>
                <a:cs typeface="Times New Roman"/>
              </a:rPr>
              <a:t>CASCADE and RESTRICT rules stop orphan rows</a:t>
            </a:r>
          </a:p>
        </p:txBody>
      </p:sp>
      <p:sp>
        <p:nvSpPr>
          <p:cNvPr id="205" name="Shape 205"/>
          <p:cNvSpPr/>
          <p:nvPr/>
        </p:nvSpPr>
        <p:spPr>
          <a:xfrm>
            <a:off x="548640" y="3390000"/>
            <a:ext cx="4370560" cy="165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678640" y="3390000"/>
            <a:ext cx="4110560" cy="16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80" b="1" dirty="0">
                <a:solidFill>
                  <a:srgbClr val="FF6600"/>
                </a:solidFill>
                <a:latin typeface="Times New Roman"/>
                <a:cs typeface="Times New Roman"/>
              </a:rPr>
              <a:t>Domain integrity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80" dirty="0">
                <a:solidFill>
                  <a:srgbClr val="4A4A4A"/>
                </a:solidFill>
                <a:latin typeface="Times New Roman"/>
                <a:cs typeface="Times New Roman"/>
              </a:rPr>
              <a:t>Correct data types: DATE, INT, VARCHAR, DECIMAL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80" dirty="0">
                <a:solidFill>
                  <a:srgbClr val="4A4A4A"/>
                </a:solidFill>
                <a:latin typeface="Times New Roman"/>
                <a:cs typeface="Times New Roman"/>
              </a:rPr>
              <a:t>CHECK limits Gender, Status and Amount values</a:t>
            </a:r>
          </a:p>
        </p:txBody>
      </p:sp>
      <p:sp>
        <p:nvSpPr>
          <p:cNvPr id="207" name="Shape 207"/>
          <p:cNvSpPr/>
          <p:nvPr/>
        </p:nvSpPr>
        <p:spPr>
          <a:xfrm>
            <a:off x="5139200" y="3390000"/>
            <a:ext cx="4370560" cy="165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TextBox 208"/>
          <p:cNvSpPr txBox="1"/>
          <p:nvPr/>
        </p:nvSpPr>
        <p:spPr>
          <a:xfrm>
            <a:off x="5269200" y="3390000"/>
            <a:ext cx="4110560" cy="165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80" b="1" dirty="0">
                <a:solidFill>
                  <a:srgbClr val="FF6600"/>
                </a:solidFill>
                <a:latin typeface="Times New Roman"/>
                <a:cs typeface="Times New Roman"/>
              </a:rPr>
              <a:t>User-defined integrity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80" dirty="0">
                <a:solidFill>
                  <a:srgbClr val="4A4A4A"/>
                </a:solidFill>
                <a:latin typeface="Times New Roman"/>
                <a:cs typeface="Times New Roman"/>
              </a:rPr>
              <a:t>Phone and Email are UNIQUE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80" dirty="0">
                <a:solidFill>
                  <a:srgbClr val="4A4A4A"/>
                </a:solidFill>
                <a:latin typeface="Times New Roman"/>
                <a:cs typeface="Times New Roman"/>
              </a:rPr>
              <a:t>Appointment_Date cannot be earlier than today</a:t>
            </a:r>
          </a:p>
        </p:txBody>
      </p:sp>
      <p:sp>
        <p:nvSpPr>
          <p:cNvPr id="209" name="Shape 209"/>
          <p:cNvSpPr/>
          <p:nvPr/>
        </p:nvSpPr>
        <p:spPr>
          <a:xfrm>
            <a:off x="548640" y="5340000"/>
            <a:ext cx="8961120" cy="1900000"/>
          </a:xfrm>
          <a:prstGeom prst="roundRect">
            <a:avLst>
              <a:gd name="adj" fmla="val 5000"/>
            </a:avLst>
          </a:prstGeom>
          <a:solidFill>
            <a:srgbClr val="1B24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extBox 210"/>
          <p:cNvSpPr txBox="1"/>
          <p:nvPr/>
        </p:nvSpPr>
        <p:spPr>
          <a:xfrm>
            <a:off x="658640" y="5430000"/>
            <a:ext cx="8741120" cy="172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080" dirty="0">
                <a:solidFill>
                  <a:srgbClr val="8FD19E"/>
                </a:solidFill>
                <a:latin typeface="Courier New"/>
                <a:cs typeface="Courier New"/>
              </a:rPr>
              <a:t>-- Validation checks run after data entry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SELECT Patient_ID, COUNT(*) FROM Patient GROUP BY Patient_ID HAVING COUNT(*) &gt; 1;  -- no duplicate IDs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SELECT * FROM Appointment WHERE Patient_ID NOT IN (SELECT Patient_ID FROM Patient); -- no orphan rows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SELECT * FROM Patient WHERE Phone IS NULL OR Patient_Name IS NULL;                  -- no missing values</a:t>
            </a:r>
          </a:p>
          <a:p>
            <a:pPr>
              <a:lnSpc>
                <a:spcPct val="100000"/>
              </a:lnSpc>
              <a:spcBef>
                <a:spcPts val="180"/>
              </a:spcBef>
              <a:buNone/>
            </a:pPr>
            <a:r>
              <a:rPr lang="en-IN" sz="1080" dirty="0">
                <a:solidFill>
                  <a:srgbClr val="E9EDF2"/>
                </a:solidFill>
                <a:latin typeface="Courier New"/>
                <a:cs typeface="Courier New"/>
              </a:rPr>
              <a:t>SELECT * FROM Medicine WHERE Expiry_Date &lt; CURDATE();                               -- expired stock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667000" y="330000"/>
            <a:ext cx="5103904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aphicFrame>
        <p:nvGraphicFramePr>
          <p:cNvPr id="201" name="Table 201"/>
          <p:cNvGraphicFramePr>
            <a:graphicFrameLocks noGrp="1"/>
          </p:cNvGraphicFramePr>
          <p:nvPr/>
        </p:nvGraphicFramePr>
        <p:xfrm>
          <a:off x="548640" y="1520000"/>
          <a:ext cx="8961120" cy="232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Team member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Roll number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Responsibility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P. Umasrinu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25B11AI891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ER diagram, schema design and normalisation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P. Udayakiran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25B11AI880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Table creation, constraints and sample data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P. Madhavan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25B11AI873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DML / DQL queries, joins and aggregate functions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b="1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P. Sudeep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25B11AI941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IN" sz="1300" dirty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Views, validation checks, documentation and demo</a:t>
                      </a:r>
                    </a:p>
                  </a:txBody>
                  <a:tcPr marL="64000" marR="64000" marT="34000" marB="34000" anchor="ctr">
                    <a:lnL w="6350" cap="flat" cmpd="sng">
                      <a:solidFill>
                        <a:srgbClr val="E6D9CD"/>
                      </a:solidFill>
                    </a:lnL>
                    <a:lnR w="6350" cap="flat" cmpd="sng">
                      <a:solidFill>
                        <a:srgbClr val="E6D9CD"/>
                      </a:solidFill>
                    </a:lnR>
                    <a:lnT w="6350" cap="flat" cmpd="sng">
                      <a:solidFill>
                        <a:srgbClr val="E6D9CD"/>
                      </a:solidFill>
                    </a:lnT>
                    <a:lnB w="6350" cap="flat" cmpd="sng">
                      <a:solidFill>
                        <a:srgbClr val="E6D9CD"/>
                      </a:solidFill>
                    </a:lnB>
                    <a:solidFill>
                      <a:srgbClr val="FB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2" name="Shape 202"/>
          <p:cNvSpPr/>
          <p:nvPr/>
        </p:nvSpPr>
        <p:spPr>
          <a:xfrm>
            <a:off x="548640" y="4140000"/>
            <a:ext cx="4330560" cy="21000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2D5C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TextBox 203"/>
          <p:cNvSpPr txBox="1"/>
          <p:nvPr/>
        </p:nvSpPr>
        <p:spPr>
          <a:xfrm>
            <a:off x="678640" y="4140000"/>
            <a:ext cx="4070560" cy="210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FF6600"/>
                </a:solidFill>
                <a:latin typeface="Times New Roman"/>
                <a:cs typeface="Times New Roman"/>
              </a:rPr>
              <a:t>Repository structure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/sql/01_create_tables.sql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/sql/02_insert_data.sql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/sql/03_queries.sql   /sql/04_views.sql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/docs/ER_diagram.png,  /docs/report.pdf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/screenshots/  — query output images</a:t>
            </a:r>
          </a:p>
        </p:txBody>
      </p:sp>
      <p:sp>
        <p:nvSpPr>
          <p:cNvPr id="204" name="Shape 204"/>
          <p:cNvSpPr/>
          <p:nvPr/>
        </p:nvSpPr>
        <p:spPr>
          <a:xfrm>
            <a:off x="5179200" y="4140000"/>
            <a:ext cx="4330560" cy="21000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C9D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TextBox 205"/>
          <p:cNvSpPr txBox="1"/>
          <p:nvPr/>
        </p:nvSpPr>
        <p:spPr>
          <a:xfrm>
            <a:off x="5309200" y="4140000"/>
            <a:ext cx="4070560" cy="2100000"/>
          </a:xfrm>
          <a:prstGeom prst="rect">
            <a:avLst/>
          </a:prstGeom>
          <a:noFill/>
          <a:ln>
            <a:noFill/>
          </a:ln>
        </p:spPr>
        <p:txBody>
          <a:bodyPr wrap="square" lIns="55000" tIns="45720" rIns="55000" bIns="45720" rtlCol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50" b="1" dirty="0">
                <a:solidFill>
                  <a:srgbClr val="17375E"/>
                </a:solidFill>
                <a:latin typeface="Times New Roman"/>
                <a:cs typeface="Times New Roman"/>
              </a:rPr>
              <a:t>Version control practice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One GitHub repository shared by all four members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Separate branch per member, merged through pull requests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Meaningful commit messages for every change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README file explains how to run the scripts</a:t>
            </a:r>
          </a:p>
          <a:p>
            <a:pPr marL="210000" indent="-210000">
              <a:lnSpc>
                <a:spcPct val="100000"/>
              </a:lnSpc>
              <a:spcBef>
                <a:spcPts val="260"/>
              </a:spcBef>
              <a:buClr>
                <a:srgbClr val="FF6600"/>
              </a:buClr>
              <a:buFont typeface="Arial"/>
              <a:buChar char="•"/>
            </a:pPr>
            <a:r>
              <a:rPr lang="en-IN" sz="1250" dirty="0">
                <a:solidFill>
                  <a:srgbClr val="4A4A4A"/>
                </a:solidFill>
                <a:latin typeface="Times New Roman"/>
                <a:cs typeface="Times New Roman"/>
              </a:rPr>
              <a:t>Guides: Mrs. G. L. Narasamba, Dr. P. V. V. S. D. Nagendrudu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B202E-87A3-B003-4573-0121026A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EBE8-6727-B017-4612-A70ABC93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1092607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b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1D4C2-1000-014E-6D72-3BF828BD4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514600"/>
            <a:ext cx="9677400" cy="2585323"/>
          </a:xfrm>
        </p:spPr>
        <p:txBody>
          <a:bodyPr/>
          <a:lstStyle/>
          <a:p>
            <a:pPr algn="l"/>
            <a:r>
              <a:rPr lang="en-IN" sz="2400" b="0" dirty="0"/>
              <a:t>The   Hospital   Management   System   stores   hospital   data    in </a:t>
            </a:r>
          </a:p>
          <a:p>
            <a:pPr algn="l"/>
            <a:r>
              <a:rPr lang="en-IN" sz="2400" b="0" dirty="0"/>
              <a:t>a   structured   database .   It    manages   patient ,   doctor,  appointment,  and   billing     details  efficiently.  Primary   and    foreign    keys  maintain   data   accuracy .   SQL  queries  provide   quick   access   to  information.  The   system  reduces   manual  work   and data duplication.</a:t>
            </a:r>
          </a:p>
          <a:p>
            <a:pPr algn="l"/>
            <a:endParaRPr lang="en-IN" sz="2400" b="0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0470C42-6C24-316C-AC2D-DEC913A9D4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2EEB5DA3-2CF2-F886-FCAE-F5E5D1EFB80A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0FDF0815-BC45-5AC8-7EFF-CBB1AAA9370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411AB755-C678-C747-0B73-FD829872C75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D3C6CD00-6277-79A1-F85B-18F72B71157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2E0E2A15-A3BE-92EF-6C85-FE83714C1F4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69041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2680</TotalTime>
  <Words>2544</Words>
  <Application>Microsoft Office PowerPoint</Application>
  <PresentationFormat>Custom</PresentationFormat>
  <Paragraphs>352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 New</vt:lpstr>
      <vt:lpstr>Palatino Linotype</vt:lpstr>
      <vt:lpstr>Times New Roman</vt:lpstr>
      <vt:lpstr>Office Theme</vt:lpstr>
      <vt:lpstr>Database Management Systems Cornerstone Project Project review - 2 </vt:lpstr>
      <vt:lpstr>PowerPoint Presentation</vt:lpstr>
      <vt:lpstr>PowerPoint Presentation</vt:lpstr>
      <vt:lpstr>PowerPoint Presentation</vt:lpstr>
      <vt:lpstr>ENTITIES &amp; ATTRIBUTES </vt:lpstr>
      <vt:lpstr>PowerPoint Presentation</vt:lpstr>
      <vt:lpstr>PowerPoint Presentation</vt:lpstr>
      <vt:lpstr>PowerPoint Presentation</vt:lpstr>
      <vt:lpstr>PowerPoint Presentation</vt:lpstr>
      <vt:lpstr>ENTITIES &amp; ATTRIBUTES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ENTITIES &amp; ATTRIBUTES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25B11AI880</cp:lastModifiedBy>
  <cp:revision>52</cp:revision>
  <cp:lastPrinted>2025-10-14T18:21:49Z</cp:lastPrinted>
  <dcterms:created xsi:type="dcterms:W3CDTF">2025-10-10T08:28:06Z</dcterms:created>
  <dcterms:modified xsi:type="dcterms:W3CDTF">2026-09-25T13:52:28Z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